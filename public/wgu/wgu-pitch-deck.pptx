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mission: pathways to opportunity. This deck is the 10-minute version of a much deeper body of work — every claim has a page, a number, or running code behind it at the architecture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quote aloud. The five failure modes repeat across reviews. Frame: every one is a systems/data problem before it's a people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preempts 'just buy more CRM.' History already ran that experiment. The failures live at records workflows, aid processing, auth, cross-department handoffs — where no single tool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 to bottom: what students touch, where truth lives, how facts move, what we build on top, how AI acts, and the thin governing layer. The full diagram with every arrow lives on the hub — this is the silhouette.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objection was 'Data Cloud gives you 70% off the shelf.' Answer: we take the 70%. The 30% we build is the part no vendor sells to a competency-based university.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available: submit a document, watch the status appear, watch a reasonless change get refused, watch the SLA breach escalate. Ten minutes, running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FERPA purpose rides every event; access follows relationships (mentor-of, evaluator-of), not job titles. The full trust pack has all seven SLOs and the error-budget policy: budget spent → features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Public-number math, assumptions stated; internal figures replace them in Days 31-60. The complaints tell us exactly where persistence leaks — every slice closes a named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listen-first: the goal of the first month is to earn the right to propose direction. Everything in this deck enters the Days 31-60 sessions with its prosecution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standard. The ask is deliberately small because the strategy funds slices with evidence. Offer the live demo as the follow-up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D11"/>
        </a:solidFill>
      </p:bgPr>
    </p:bg>
    <p:spTree>
      <p:nvGrpSpPr>
        <p:cNvPr id="1" name=""/>
        <p:cNvGrpSpPr/>
        <p:nvPr/>
      </p:nvGrpSpPr>
      <p:grpSpPr>
        <a:xfrm>
          <a:off x="0" y="0"/>
          <a:ext cx="0" cy="0"/>
          <a:chOff x="0" y="0"/>
          <a:chExt cx="0" cy="0"/>
        </a:xfrm>
      </p:grpSpPr>
      <p:sp>
        <p:nvSpPr>
          <p:cNvPr id="2" name="Text 0"/>
          <p:cNvSpPr/>
          <p:nvPr/>
        </p:nvSpPr>
        <p:spPr>
          <a:xfrm>
            <a:off x="502920" y="822960"/>
            <a:ext cx="8138160" cy="274320"/>
          </a:xfrm>
          <a:prstGeom prst="rect">
            <a:avLst/>
          </a:prstGeom>
          <a:noFill/>
          <a:ln/>
        </p:spPr>
        <p:txBody>
          <a:bodyPr wrap="square" rtlCol="0" anchor="ctr"/>
          <a:lstStyle/>
          <a:p>
            <a:pPr indent="0" marL="0">
              <a:buNone/>
            </a:pPr>
            <a:r>
              <a:rPr lang="en-US" sz="1200" spc="200" kern="0" dirty="0">
                <a:solidFill>
                  <a:srgbClr val="19D6C5"/>
                </a:solidFill>
                <a:latin typeface="Courier New" pitchFamily="34" charset="0"/>
                <a:ea typeface="Courier New" pitchFamily="34" charset="-122"/>
                <a:cs typeface="Courier New" pitchFamily="34" charset="-120"/>
              </a:rPr>
              <a:t>ENTERPRISE ARCHITECTURE · WESTERN GOVERNORS UNIVERSITY</a:t>
            </a:r>
            <a:endParaRPr lang="en-US" sz="1200" dirty="0"/>
          </a:p>
        </p:txBody>
      </p:sp>
      <p:sp>
        <p:nvSpPr>
          <p:cNvPr id="3" name="Text 1"/>
          <p:cNvSpPr/>
          <p:nvPr/>
        </p:nvSpPr>
        <p:spPr>
          <a:xfrm>
            <a:off x="502920" y="1234440"/>
            <a:ext cx="8138160" cy="914400"/>
          </a:xfrm>
          <a:prstGeom prst="rect">
            <a:avLst/>
          </a:prstGeom>
          <a:noFill/>
          <a:ln/>
        </p:spPr>
        <p:txBody>
          <a:bodyPr wrap="square" rtlCol="0" anchor="ctr"/>
          <a:lstStyle/>
          <a:p>
            <a:pPr indent="0" marL="0">
              <a:buNone/>
            </a:pPr>
            <a:r>
              <a:rPr lang="en-US" sz="4800" b="1" dirty="0">
                <a:solidFill>
                  <a:srgbClr val="FFFFFF"/>
                </a:solidFill>
                <a:latin typeface="Arial" pitchFamily="34" charset="0"/>
                <a:ea typeface="Arial" pitchFamily="34" charset="-122"/>
                <a:cs typeface="Arial" pitchFamily="34" charset="-120"/>
              </a:rPr>
              <a:t>The New Student System</a:t>
            </a:r>
            <a:endParaRPr lang="en-US" sz="4800" dirty="0"/>
          </a:p>
        </p:txBody>
      </p:sp>
      <p:sp>
        <p:nvSpPr>
          <p:cNvPr id="4" name="Text 2"/>
          <p:cNvSpPr/>
          <p:nvPr/>
        </p:nvSpPr>
        <p:spPr>
          <a:xfrm>
            <a:off x="521208" y="2240280"/>
            <a:ext cx="6949440" cy="822960"/>
          </a:xfrm>
          <a:prstGeom prst="rect">
            <a:avLst/>
          </a:prstGeom>
          <a:noFill/>
          <a:ln/>
        </p:spPr>
        <p:txBody>
          <a:bodyPr wrap="square" rtlCol="0" anchor="ctr"/>
          <a:lstStyle/>
          <a:p>
            <a:pPr indent="0" marL="0">
              <a:buNone/>
            </a:pPr>
            <a:r>
              <a:rPr lang="en-US" sz="1800" dirty="0">
                <a:solidFill>
                  <a:srgbClr val="BAC6CE"/>
                </a:solidFill>
                <a:latin typeface="Arial" pitchFamily="34" charset="0"/>
                <a:ea typeface="Arial" pitchFamily="34" charset="-122"/>
                <a:cs typeface="Arial" pitchFamily="34" charset="-120"/>
              </a:rPr>
              <a:t>One governed student timeline. No black holes, nothing silent,</a:t>
            </a:r>
            <a:endParaRPr lang="en-US" sz="1800" dirty="0"/>
          </a:p>
          <a:p>
            <a:pPr indent="0" marL="0">
              <a:buNone/>
            </a:pPr>
            <a:r>
              <a:rPr lang="en-US" sz="1800" dirty="0">
                <a:solidFill>
                  <a:srgbClr val="BAC6CE"/>
                </a:solidFill>
                <a:latin typeface="Arial" pitchFamily="34" charset="0"/>
                <a:ea typeface="Arial" pitchFamily="34" charset="-122"/>
                <a:cs typeface="Arial" pitchFamily="34" charset="-120"/>
              </a:rPr>
              <a:t>no student ever dropped between systems.</a:t>
            </a:r>
            <a:endParaRPr lang="en-US" sz="1800" dirty="0"/>
          </a:p>
        </p:txBody>
      </p:sp>
      <p:sp>
        <p:nvSpPr>
          <p:cNvPr id="5" name="Shape 3"/>
          <p:cNvSpPr/>
          <p:nvPr/>
        </p:nvSpPr>
        <p:spPr>
          <a:xfrm>
            <a:off x="502920" y="3383280"/>
            <a:ext cx="2468880" cy="1097280"/>
          </a:xfrm>
          <a:prstGeom prst="roundRect">
            <a:avLst>
              <a:gd name="adj" fmla="val 4167"/>
            </a:avLst>
          </a:prstGeom>
          <a:solidFill>
            <a:srgbClr val="151B23"/>
          </a:solidFill>
          <a:ln w="9525">
            <a:solidFill>
              <a:srgbClr val="2A333D"/>
            </a:solidFill>
            <a:prstDash val="solid"/>
          </a:ln>
        </p:spPr>
      </p:sp>
      <p:sp>
        <p:nvSpPr>
          <p:cNvPr id="6" name="Text 4"/>
          <p:cNvSpPr/>
          <p:nvPr/>
        </p:nvSpPr>
        <p:spPr>
          <a:xfrm>
            <a:off x="685800" y="3520440"/>
            <a:ext cx="2103120" cy="457200"/>
          </a:xfrm>
          <a:prstGeom prst="rect">
            <a:avLst/>
          </a:prstGeom>
          <a:noFill/>
          <a:ln/>
        </p:spPr>
        <p:txBody>
          <a:bodyPr wrap="square" rtlCol="0" anchor="ctr"/>
          <a:lstStyle/>
          <a:p>
            <a:pPr indent="0" marL="0">
              <a:buNone/>
            </a:pPr>
            <a:r>
              <a:rPr lang="en-US" sz="3000" b="1" dirty="0">
                <a:solidFill>
                  <a:srgbClr val="19D6C5"/>
                </a:solidFill>
                <a:latin typeface="Arial" pitchFamily="34" charset="0"/>
                <a:ea typeface="Arial" pitchFamily="34" charset="-122"/>
                <a:cs typeface="Arial" pitchFamily="34" charset="-120"/>
              </a:rPr>
              <a:t>192,613</a:t>
            </a:r>
            <a:endParaRPr lang="en-US" sz="3000" dirty="0"/>
          </a:p>
        </p:txBody>
      </p:sp>
      <p:sp>
        <p:nvSpPr>
          <p:cNvPr id="7" name="Text 5"/>
          <p:cNvSpPr/>
          <p:nvPr/>
        </p:nvSpPr>
        <p:spPr>
          <a:xfrm>
            <a:off x="685800" y="4005072"/>
            <a:ext cx="2103120" cy="365760"/>
          </a:xfrm>
          <a:prstGeom prst="rect">
            <a:avLst/>
          </a:prstGeom>
          <a:noFill/>
          <a:ln/>
        </p:spPr>
        <p:txBody>
          <a:bodyPr wrap="square" rtlCol="0" anchor="ctr"/>
          <a:lstStyle/>
          <a:p>
            <a:pPr indent="0" marL="0">
              <a:buNone/>
            </a:pPr>
            <a:r>
              <a:rPr lang="en-US" sz="1100" dirty="0">
                <a:solidFill>
                  <a:srgbClr val="BAC6CE"/>
                </a:solidFill>
                <a:latin typeface="Arial" pitchFamily="34" charset="0"/>
                <a:ea typeface="Arial" pitchFamily="34" charset="-122"/>
                <a:cs typeface="Arial" pitchFamily="34" charset="-120"/>
              </a:rPr>
              <a:t>students the system must serve</a:t>
            </a:r>
            <a:endParaRPr lang="en-US" sz="1100" dirty="0"/>
          </a:p>
        </p:txBody>
      </p:sp>
      <p:sp>
        <p:nvSpPr>
          <p:cNvPr id="8" name="Shape 6"/>
          <p:cNvSpPr/>
          <p:nvPr/>
        </p:nvSpPr>
        <p:spPr>
          <a:xfrm>
            <a:off x="3154680" y="3383280"/>
            <a:ext cx="2468880" cy="1097280"/>
          </a:xfrm>
          <a:prstGeom prst="roundRect">
            <a:avLst>
              <a:gd name="adj" fmla="val 4167"/>
            </a:avLst>
          </a:prstGeom>
          <a:solidFill>
            <a:srgbClr val="151B23"/>
          </a:solidFill>
          <a:ln w="9525">
            <a:solidFill>
              <a:srgbClr val="2A333D"/>
            </a:solidFill>
            <a:prstDash val="solid"/>
          </a:ln>
        </p:spPr>
      </p:sp>
      <p:sp>
        <p:nvSpPr>
          <p:cNvPr id="9" name="Text 7"/>
          <p:cNvSpPr/>
          <p:nvPr/>
        </p:nvSpPr>
        <p:spPr>
          <a:xfrm>
            <a:off x="3337560" y="3520440"/>
            <a:ext cx="2103120" cy="457200"/>
          </a:xfrm>
          <a:prstGeom prst="rect">
            <a:avLst/>
          </a:prstGeom>
          <a:noFill/>
          <a:ln/>
        </p:spPr>
        <p:txBody>
          <a:bodyPr wrap="square" rtlCol="0" anchor="ctr"/>
          <a:lstStyle/>
          <a:p>
            <a:pPr indent="0" marL="0">
              <a:buNone/>
            </a:pPr>
            <a:r>
              <a:rPr lang="en-US" sz="3000" b="1" dirty="0">
                <a:solidFill>
                  <a:srgbClr val="F2B84B"/>
                </a:solidFill>
                <a:latin typeface="Arial" pitchFamily="34" charset="0"/>
                <a:ea typeface="Arial" pitchFamily="34" charset="-122"/>
                <a:cs typeface="Arial" pitchFamily="34" charset="-120"/>
              </a:rPr>
              <a:t>14</a:t>
            </a:r>
            <a:endParaRPr lang="en-US" sz="3000" dirty="0"/>
          </a:p>
        </p:txBody>
      </p:sp>
      <p:sp>
        <p:nvSpPr>
          <p:cNvPr id="10" name="Text 8"/>
          <p:cNvSpPr/>
          <p:nvPr/>
        </p:nvSpPr>
        <p:spPr>
          <a:xfrm>
            <a:off x="3337560" y="4005072"/>
            <a:ext cx="2103120" cy="365760"/>
          </a:xfrm>
          <a:prstGeom prst="rect">
            <a:avLst/>
          </a:prstGeom>
          <a:noFill/>
          <a:ln/>
        </p:spPr>
        <p:txBody>
          <a:bodyPr wrap="square" rtlCol="0" anchor="ctr"/>
          <a:lstStyle/>
          <a:p>
            <a:pPr indent="0" marL="0">
              <a:buNone/>
            </a:pPr>
            <a:r>
              <a:rPr lang="en-US" sz="1100" dirty="0">
                <a:solidFill>
                  <a:srgbClr val="BAC6CE"/>
                </a:solidFill>
                <a:latin typeface="Arial" pitchFamily="34" charset="0"/>
                <a:ea typeface="Arial" pitchFamily="34" charset="-122"/>
                <a:cs typeface="Arial" pitchFamily="34" charset="-120"/>
              </a:rPr>
              <a:t>leadership principles governing every plan</a:t>
            </a:r>
            <a:endParaRPr lang="en-US" sz="1100" dirty="0"/>
          </a:p>
        </p:txBody>
      </p:sp>
      <p:sp>
        <p:nvSpPr>
          <p:cNvPr id="11" name="Shape 9"/>
          <p:cNvSpPr/>
          <p:nvPr/>
        </p:nvSpPr>
        <p:spPr>
          <a:xfrm>
            <a:off x="5806440" y="3383280"/>
            <a:ext cx="2834640" cy="1097280"/>
          </a:xfrm>
          <a:prstGeom prst="roundRect">
            <a:avLst>
              <a:gd name="adj" fmla="val 4167"/>
            </a:avLst>
          </a:prstGeom>
          <a:solidFill>
            <a:srgbClr val="151B23"/>
          </a:solidFill>
          <a:ln w="9525">
            <a:solidFill>
              <a:srgbClr val="2A333D"/>
            </a:solidFill>
            <a:prstDash val="solid"/>
          </a:ln>
        </p:spPr>
      </p:sp>
      <p:sp>
        <p:nvSpPr>
          <p:cNvPr id="12" name="Text 10"/>
          <p:cNvSpPr/>
          <p:nvPr/>
        </p:nvSpPr>
        <p:spPr>
          <a:xfrm>
            <a:off x="5989320" y="3520440"/>
            <a:ext cx="2468880" cy="457200"/>
          </a:xfrm>
          <a:prstGeom prst="rect">
            <a:avLst/>
          </a:prstGeom>
          <a:noFill/>
          <a:ln/>
        </p:spPr>
        <p:txBody>
          <a:bodyPr wrap="square" rtlCol="0" anchor="ctr"/>
          <a:lstStyle/>
          <a:p>
            <a:pPr indent="0" marL="0">
              <a:buNone/>
            </a:pPr>
            <a:r>
              <a:rPr lang="en-US" sz="3000" b="1" dirty="0">
                <a:solidFill>
                  <a:srgbClr val="FF4FD8"/>
                </a:solidFill>
                <a:latin typeface="Arial" pitchFamily="34" charset="0"/>
                <a:ea typeface="Arial" pitchFamily="34" charset="-122"/>
                <a:cs typeface="Arial" pitchFamily="34" charset="-120"/>
              </a:rPr>
              <a:t>1</a:t>
            </a:r>
            <a:endParaRPr lang="en-US" sz="3000" dirty="0"/>
          </a:p>
        </p:txBody>
      </p:sp>
      <p:sp>
        <p:nvSpPr>
          <p:cNvPr id="13" name="Text 11"/>
          <p:cNvSpPr/>
          <p:nvPr/>
        </p:nvSpPr>
        <p:spPr>
          <a:xfrm>
            <a:off x="5989320" y="4005072"/>
            <a:ext cx="2468880" cy="365760"/>
          </a:xfrm>
          <a:prstGeom prst="rect">
            <a:avLst/>
          </a:prstGeom>
          <a:noFill/>
          <a:ln/>
        </p:spPr>
        <p:txBody>
          <a:bodyPr wrap="square" rtlCol="0" anchor="ctr"/>
          <a:lstStyle/>
          <a:p>
            <a:pPr indent="0" marL="0">
              <a:buNone/>
            </a:pPr>
            <a:r>
              <a:rPr lang="en-US" sz="1100" dirty="0">
                <a:solidFill>
                  <a:srgbClr val="BAC6CE"/>
                </a:solidFill>
                <a:latin typeface="Arial" pitchFamily="34" charset="0"/>
                <a:ea typeface="Arial" pitchFamily="34" charset="-122"/>
                <a:cs typeface="Arial" pitchFamily="34" charset="-120"/>
              </a:rPr>
              <a:t>timeline of truth per student, governed end to end</a:t>
            </a:r>
            <a:endParaRPr lang="en-US" sz="1100" dirty="0"/>
          </a:p>
        </p:txBody>
      </p:sp>
      <p:sp>
        <p:nvSpPr>
          <p:cNvPr id="14" name="Text 12"/>
          <p:cNvSpPr/>
          <p:nvPr/>
        </p:nvSpPr>
        <p:spPr>
          <a:xfrm>
            <a:off x="502920" y="4709160"/>
            <a:ext cx="8138160" cy="274320"/>
          </a:xfrm>
          <a:prstGeom prst="rect">
            <a:avLst/>
          </a:prstGeom>
          <a:noFill/>
          <a:ln/>
        </p:spPr>
        <p:txBody>
          <a:bodyPr wrap="square" rtlCol="0" anchor="ctr"/>
          <a:lstStyle/>
          <a:p>
            <a:pPr indent="0" marL="0">
              <a:buNone/>
            </a:pPr>
            <a:r>
              <a:rPr lang="en-US" sz="1100" dirty="0">
                <a:solidFill>
                  <a:srgbClr val="76838C"/>
                </a:solidFill>
                <a:latin typeface="Courier New" pitchFamily="34" charset="0"/>
                <a:ea typeface="Courier New" pitchFamily="34" charset="-122"/>
                <a:cs typeface="Courier New" pitchFamily="34" charset="-120"/>
              </a:rPr>
              <a:t>John Briggs · Enterprise Architect · 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D11"/>
        </a:solidFill>
      </p:bgPr>
    </p:bg>
    <p:spTree>
      <p:nvGrpSpPr>
        <p:cNvPr id="1" name=""/>
        <p:cNvGrpSpPr/>
        <p:nvPr/>
      </p:nvGrpSpPr>
      <p:grpSpPr>
        <a:xfrm>
          <a:off x="0" y="0"/>
          <a:ext cx="0" cy="0"/>
          <a:chOff x="0" y="0"/>
          <a:chExt cx="0" cy="0"/>
        </a:xfrm>
      </p:grpSpPr>
      <p:sp>
        <p:nvSpPr>
          <p:cNvPr id="2" name="Text 0"/>
          <p:cNvSpPr/>
          <p:nvPr/>
        </p:nvSpPr>
        <p:spPr>
          <a:xfrm>
            <a:off x="502920" y="320040"/>
            <a:ext cx="8138160" cy="274320"/>
          </a:xfrm>
          <a:prstGeom prst="rect">
            <a:avLst/>
          </a:prstGeom>
          <a:noFill/>
          <a:ln/>
        </p:spPr>
        <p:txBody>
          <a:bodyPr wrap="square" rtlCol="0" anchor="ctr"/>
          <a:lstStyle/>
          <a:p>
            <a:pPr indent="0" marL="0">
              <a:buNone/>
            </a:pPr>
            <a:r>
              <a:rPr lang="en-US" sz="1100" spc="200" kern="0" dirty="0">
                <a:solidFill>
                  <a:srgbClr val="FF4FD8"/>
                </a:solidFill>
                <a:latin typeface="Courier New" pitchFamily="34" charset="0"/>
                <a:ea typeface="Courier New" pitchFamily="34" charset="-122"/>
                <a:cs typeface="Courier New" pitchFamily="34" charset="-120"/>
              </a:rPr>
              <a:t>VOICE OF THE STUDENT · FROM PUBLIC REVIEWS</a:t>
            </a:r>
            <a:endParaRPr lang="en-US" sz="1100" dirty="0"/>
          </a:p>
        </p:txBody>
      </p:sp>
      <p:sp>
        <p:nvSpPr>
          <p:cNvPr id="3" name="Text 1"/>
          <p:cNvSpPr/>
          <p:nvPr/>
        </p:nvSpPr>
        <p:spPr>
          <a:xfrm>
            <a:off x="502920" y="621792"/>
            <a:ext cx="8138160" cy="77724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The complaints are almost never about the teaching.</a:t>
            </a:r>
            <a:endParaRPr lang="en-US" sz="3000" dirty="0"/>
          </a:p>
        </p:txBody>
      </p:sp>
      <p:sp>
        <p:nvSpPr>
          <p:cNvPr id="4" name="Shape 2"/>
          <p:cNvSpPr/>
          <p:nvPr/>
        </p:nvSpPr>
        <p:spPr>
          <a:xfrm>
            <a:off x="502920" y="1691640"/>
            <a:ext cx="3931920" cy="3017520"/>
          </a:xfrm>
          <a:prstGeom prst="roundRect">
            <a:avLst>
              <a:gd name="adj" fmla="val 1515"/>
            </a:avLst>
          </a:prstGeom>
          <a:solidFill>
            <a:srgbClr val="1B232C"/>
          </a:solidFill>
          <a:ln w="9525">
            <a:solidFill>
              <a:srgbClr val="2A333D"/>
            </a:solidFill>
            <a:prstDash val="solid"/>
          </a:ln>
        </p:spPr>
      </p:sp>
      <p:sp>
        <p:nvSpPr>
          <p:cNvPr id="5" name="Text 3"/>
          <p:cNvSpPr/>
          <p:nvPr/>
        </p:nvSpPr>
        <p:spPr>
          <a:xfrm>
            <a:off x="731520" y="1874520"/>
            <a:ext cx="3474720" cy="1371600"/>
          </a:xfrm>
          <a:prstGeom prst="rect">
            <a:avLst/>
          </a:prstGeom>
          <a:noFill/>
          <a:ln/>
        </p:spPr>
        <p:txBody>
          <a:bodyPr wrap="square" rtlCol="0" anchor="ctr"/>
          <a:lstStyle/>
          <a:p>
            <a:pPr indent="0" marL="0">
              <a:buNone/>
            </a:pPr>
            <a:r>
              <a:rPr lang="en-US" sz="1600" i="1" dirty="0">
                <a:solidFill>
                  <a:srgbClr val="FFFFFF"/>
                </a:solidFill>
                <a:latin typeface="Arial" pitchFamily="34" charset="0"/>
                <a:ea typeface="Arial" pitchFamily="34" charset="-122"/>
                <a:cs typeface="Arial" pitchFamily="34" charset="-120"/>
              </a:rPr>
              <a:t>“My start date was removed from the system without explanation, and no one took responsibility.”</a:t>
            </a:r>
            <a:endParaRPr lang="en-US" sz="1600" dirty="0"/>
          </a:p>
        </p:txBody>
      </p:sp>
      <p:sp>
        <p:nvSpPr>
          <p:cNvPr id="6" name="Text 4"/>
          <p:cNvSpPr/>
          <p:nvPr/>
        </p:nvSpPr>
        <p:spPr>
          <a:xfrm>
            <a:off x="731520" y="3246120"/>
            <a:ext cx="3474720" cy="274320"/>
          </a:xfrm>
          <a:prstGeom prst="rect">
            <a:avLst/>
          </a:prstGeom>
          <a:noFill/>
          <a:ln/>
        </p:spPr>
        <p:txBody>
          <a:bodyPr wrap="square" rtlCol="0" anchor="ctr"/>
          <a:lstStyle/>
          <a:p>
            <a:pPr indent="0" marL="0">
              <a:buNone/>
            </a:pPr>
            <a:r>
              <a:rPr lang="en-US" sz="1100" dirty="0">
                <a:solidFill>
                  <a:srgbClr val="76838C"/>
                </a:solidFill>
                <a:latin typeface="Arial" pitchFamily="34" charset="0"/>
                <a:ea typeface="Arial" pitchFamily="34" charset="-122"/>
                <a:cs typeface="Arial" pitchFamily="34" charset="-120"/>
              </a:rPr>
              <a:t>— paraphrased, anonymized public review</a:t>
            </a:r>
            <a:endParaRPr lang="en-US" sz="1100" dirty="0"/>
          </a:p>
        </p:txBody>
      </p:sp>
      <p:sp>
        <p:nvSpPr>
          <p:cNvPr id="7" name="Text 5"/>
          <p:cNvSpPr/>
          <p:nvPr/>
        </p:nvSpPr>
        <p:spPr>
          <a:xfrm>
            <a:off x="731520" y="3657600"/>
            <a:ext cx="3474720" cy="822960"/>
          </a:xfrm>
          <a:prstGeom prst="rect">
            <a:avLst/>
          </a:prstGeom>
          <a:noFill/>
          <a:ln/>
        </p:spPr>
        <p:txBody>
          <a:bodyPr wrap="square" rtlCol="0" anchor="ctr"/>
          <a:lstStyle/>
          <a:p>
            <a:pPr indent="0" marL="0">
              <a:buNone/>
            </a:pPr>
            <a:r>
              <a:rPr lang="en-US" sz="1350" b="1" dirty="0">
                <a:solidFill>
                  <a:srgbClr val="19D6C5"/>
                </a:solidFill>
                <a:latin typeface="Arial" pitchFamily="34" charset="0"/>
                <a:ea typeface="Arial" pitchFamily="34" charset="-122"/>
                <a:cs typeface="Arial" pitchFamily="34" charset="-120"/>
              </a:rPr>
              <a:t>They are architecture problems wearing a customer-service costume.</a:t>
            </a:r>
            <a:endParaRPr lang="en-US" sz="1350" dirty="0"/>
          </a:p>
        </p:txBody>
      </p:sp>
      <p:sp>
        <p:nvSpPr>
          <p:cNvPr id="8" name="Shape 6"/>
          <p:cNvSpPr/>
          <p:nvPr/>
        </p:nvSpPr>
        <p:spPr>
          <a:xfrm>
            <a:off x="4617720" y="1691640"/>
            <a:ext cx="4023360" cy="548640"/>
          </a:xfrm>
          <a:prstGeom prst="roundRect">
            <a:avLst>
              <a:gd name="adj" fmla="val 8333"/>
            </a:avLst>
          </a:prstGeom>
          <a:solidFill>
            <a:srgbClr val="151B23"/>
          </a:solidFill>
          <a:ln w="9525">
            <a:solidFill>
              <a:srgbClr val="2A333D"/>
            </a:solidFill>
            <a:prstDash val="solid"/>
          </a:ln>
        </p:spPr>
      </p:sp>
      <p:sp>
        <p:nvSpPr>
          <p:cNvPr id="9" name="Text 7"/>
          <p:cNvSpPr/>
          <p:nvPr/>
        </p:nvSpPr>
        <p:spPr>
          <a:xfrm>
            <a:off x="4800600" y="1737360"/>
            <a:ext cx="3703320" cy="45720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Black-hole submissions  </a:t>
            </a:r>
            <a:pPr indent="0" marL="0">
              <a:buNone/>
            </a:pPr>
            <a:r>
              <a:rPr lang="en-US" sz="1150" dirty="0">
                <a:solidFill>
                  <a:srgbClr val="BAC6CE"/>
                </a:solidFill>
                <a:latin typeface="Arial" pitchFamily="34" charset="0"/>
                <a:ea typeface="Arial" pitchFamily="34" charset="-122"/>
                <a:cs typeface="Arial" pitchFamily="34" charset="-120"/>
              </a:rPr>
              <a:t>documents vanish into queues with no status, no timeline</a:t>
            </a:r>
            <a:endParaRPr lang="en-US" sz="1150" dirty="0"/>
          </a:p>
        </p:txBody>
      </p:sp>
      <p:sp>
        <p:nvSpPr>
          <p:cNvPr id="10" name="Shape 8"/>
          <p:cNvSpPr/>
          <p:nvPr/>
        </p:nvSpPr>
        <p:spPr>
          <a:xfrm>
            <a:off x="4617720" y="2313432"/>
            <a:ext cx="4023360" cy="548640"/>
          </a:xfrm>
          <a:prstGeom prst="roundRect">
            <a:avLst>
              <a:gd name="adj" fmla="val 8333"/>
            </a:avLst>
          </a:prstGeom>
          <a:solidFill>
            <a:srgbClr val="151B23"/>
          </a:solidFill>
          <a:ln w="9525">
            <a:solidFill>
              <a:srgbClr val="2A333D"/>
            </a:solidFill>
            <a:prstDash val="solid"/>
          </a:ln>
        </p:spPr>
      </p:sp>
      <p:sp>
        <p:nvSpPr>
          <p:cNvPr id="11" name="Text 9"/>
          <p:cNvSpPr/>
          <p:nvPr/>
        </p:nvSpPr>
        <p:spPr>
          <a:xfrm>
            <a:off x="4800600" y="2359152"/>
            <a:ext cx="3703320" cy="45720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Silent state changes  </a:t>
            </a:r>
            <a:pPr indent="0" marL="0">
              <a:buNone/>
            </a:pPr>
            <a:r>
              <a:rPr lang="en-US" sz="1150" dirty="0">
                <a:solidFill>
                  <a:srgbClr val="BAC6CE"/>
                </a:solidFill>
                <a:latin typeface="Arial" pitchFamily="34" charset="0"/>
                <a:ea typeface="Arial" pitchFamily="34" charset="-122"/>
                <a:cs typeface="Arial" pitchFamily="34" charset="-120"/>
              </a:rPr>
              <a:t>records altered with no notice, no audit, no owner</a:t>
            </a:r>
            <a:endParaRPr lang="en-US" sz="1150" dirty="0"/>
          </a:p>
        </p:txBody>
      </p:sp>
      <p:sp>
        <p:nvSpPr>
          <p:cNvPr id="12" name="Shape 10"/>
          <p:cNvSpPr/>
          <p:nvPr/>
        </p:nvSpPr>
        <p:spPr>
          <a:xfrm>
            <a:off x="4617720" y="2935224"/>
            <a:ext cx="4023360" cy="548640"/>
          </a:xfrm>
          <a:prstGeom prst="roundRect">
            <a:avLst>
              <a:gd name="adj" fmla="val 8333"/>
            </a:avLst>
          </a:prstGeom>
          <a:solidFill>
            <a:srgbClr val="151B23"/>
          </a:solidFill>
          <a:ln w="9525">
            <a:solidFill>
              <a:srgbClr val="2A333D"/>
            </a:solidFill>
            <a:prstDash val="solid"/>
          </a:ln>
        </p:spPr>
      </p:sp>
      <p:sp>
        <p:nvSpPr>
          <p:cNvPr id="13" name="Text 11"/>
          <p:cNvSpPr/>
          <p:nvPr/>
        </p:nvSpPr>
        <p:spPr>
          <a:xfrm>
            <a:off x="4800600" y="2980944"/>
            <a:ext cx="3703320" cy="45720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Dropped handoffs  </a:t>
            </a:r>
            <a:pPr indent="0" marL="0">
              <a:buNone/>
            </a:pPr>
            <a:r>
              <a:rPr lang="en-US" sz="1150" dirty="0">
                <a:solidFill>
                  <a:srgbClr val="BAC6CE"/>
                </a:solidFill>
                <a:latin typeface="Arial" pitchFamily="34" charset="0"/>
                <a:ea typeface="Arial" pitchFamily="34" charset="-122"/>
                <a:cs typeface="Arial" pitchFamily="34" charset="-120"/>
              </a:rPr>
              <a:t>processes stall with no owner and no dead-man's switch</a:t>
            </a:r>
            <a:endParaRPr lang="en-US" sz="1150" dirty="0"/>
          </a:p>
        </p:txBody>
      </p:sp>
      <p:sp>
        <p:nvSpPr>
          <p:cNvPr id="14" name="Shape 12"/>
          <p:cNvSpPr/>
          <p:nvPr/>
        </p:nvSpPr>
        <p:spPr>
          <a:xfrm>
            <a:off x="4617720" y="3557016"/>
            <a:ext cx="4023360" cy="548640"/>
          </a:xfrm>
          <a:prstGeom prst="roundRect">
            <a:avLst>
              <a:gd name="adj" fmla="val 8333"/>
            </a:avLst>
          </a:prstGeom>
          <a:solidFill>
            <a:srgbClr val="151B23"/>
          </a:solidFill>
          <a:ln w="9525">
            <a:solidFill>
              <a:srgbClr val="2A333D"/>
            </a:solidFill>
            <a:prstDash val="solid"/>
          </a:ln>
        </p:spPr>
      </p:sp>
      <p:sp>
        <p:nvSpPr>
          <p:cNvPr id="15" name="Text 13"/>
          <p:cNvSpPr/>
          <p:nvPr/>
        </p:nvSpPr>
        <p:spPr>
          <a:xfrm>
            <a:off x="4800600" y="3602736"/>
            <a:ext cx="3703320" cy="45720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Fragmented truth  </a:t>
            </a:r>
            <a:pPr indent="0" marL="0">
              <a:buNone/>
            </a:pPr>
            <a:r>
              <a:rPr lang="en-US" sz="1150" dirty="0">
                <a:solidFill>
                  <a:srgbClr val="BAC6CE"/>
                </a:solidFill>
                <a:latin typeface="Arial" pitchFamily="34" charset="0"/>
                <a:ea typeface="Arial" pitchFamily="34" charset="-122"/>
                <a:cs typeface="Arial" pitchFamily="34" charset="-120"/>
              </a:rPr>
              <a:t>different answers every call — nobody sees the whole student</a:t>
            </a:r>
            <a:endParaRPr lang="en-US" sz="1150" dirty="0"/>
          </a:p>
        </p:txBody>
      </p:sp>
      <p:sp>
        <p:nvSpPr>
          <p:cNvPr id="16" name="Shape 14"/>
          <p:cNvSpPr/>
          <p:nvPr/>
        </p:nvSpPr>
        <p:spPr>
          <a:xfrm>
            <a:off x="4617720" y="4178808"/>
            <a:ext cx="4023360" cy="548640"/>
          </a:xfrm>
          <a:prstGeom prst="roundRect">
            <a:avLst>
              <a:gd name="adj" fmla="val 8333"/>
            </a:avLst>
          </a:prstGeom>
          <a:solidFill>
            <a:srgbClr val="151B23"/>
          </a:solidFill>
          <a:ln w="9525">
            <a:solidFill>
              <a:srgbClr val="2A333D"/>
            </a:solidFill>
            <a:prstDash val="solid"/>
          </a:ln>
        </p:spPr>
      </p:sp>
      <p:sp>
        <p:nvSpPr>
          <p:cNvPr id="17" name="Text 15"/>
          <p:cNvSpPr/>
          <p:nvPr/>
        </p:nvSpPr>
        <p:spPr>
          <a:xfrm>
            <a:off x="4800600" y="4224528"/>
            <a:ext cx="3703320" cy="45720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Fragile access  </a:t>
            </a:r>
            <a:pPr indent="0" marL="0">
              <a:buNone/>
            </a:pPr>
            <a:r>
              <a:rPr lang="en-US" sz="1150" dirty="0">
                <a:solidFill>
                  <a:srgbClr val="BAC6CE"/>
                </a:solidFill>
                <a:latin typeface="Arial" pitchFamily="34" charset="0"/>
                <a:ea typeface="Arial" pitchFamily="34" charset="-122"/>
                <a:cs typeface="Arial" pitchFamily="34" charset="-120"/>
              </a:rPr>
              <a:t>login fails on the one evening the student had free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D11"/>
        </a:solidFill>
      </p:bgPr>
    </p:bg>
    <p:spTree>
      <p:nvGrpSpPr>
        <p:cNvPr id="1" name=""/>
        <p:cNvGrpSpPr/>
        <p:nvPr/>
      </p:nvGrpSpPr>
      <p:grpSpPr>
        <a:xfrm>
          <a:off x="0" y="0"/>
          <a:ext cx="0" cy="0"/>
          <a:chOff x="0" y="0"/>
          <a:chExt cx="0" cy="0"/>
        </a:xfrm>
      </p:grpSpPr>
      <p:sp>
        <p:nvSpPr>
          <p:cNvPr id="2" name="Text 0"/>
          <p:cNvSpPr/>
          <p:nvPr/>
        </p:nvSpPr>
        <p:spPr>
          <a:xfrm>
            <a:off x="502920" y="320040"/>
            <a:ext cx="8138160" cy="274320"/>
          </a:xfrm>
          <a:prstGeom prst="rect">
            <a:avLst/>
          </a:prstGeom>
          <a:noFill/>
          <a:ln/>
        </p:spPr>
        <p:txBody>
          <a:bodyPr wrap="square" rtlCol="0" anchor="ctr"/>
          <a:lstStyle/>
          <a:p>
            <a:pPr indent="0" marL="0">
              <a:buNone/>
            </a:pPr>
            <a:r>
              <a:rPr lang="en-US" sz="1100" spc="200" kern="0" dirty="0">
                <a:solidFill>
                  <a:srgbClr val="F2B84B"/>
                </a:solidFill>
                <a:latin typeface="Courier New" pitchFamily="34" charset="0"/>
                <a:ea typeface="Courier New" pitchFamily="34" charset="-122"/>
                <a:cs typeface="Courier New" pitchFamily="34" charset="-120"/>
              </a:rPr>
              <a:t>THE DECISIVE HISTORICAL FACT</a:t>
            </a:r>
            <a:endParaRPr lang="en-US" sz="1100" dirty="0"/>
          </a:p>
        </p:txBody>
      </p:sp>
      <p:sp>
        <p:nvSpPr>
          <p:cNvPr id="3" name="Text 1"/>
          <p:cNvSpPr/>
          <p:nvPr/>
        </p:nvSpPr>
        <p:spPr>
          <a:xfrm>
            <a:off x="502920" y="621792"/>
            <a:ext cx="8138160" cy="77724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The tools were present. The seams were ungoverned.</a:t>
            </a:r>
            <a:endParaRPr lang="en-US" sz="3000" dirty="0"/>
          </a:p>
        </p:txBody>
      </p:sp>
      <p:sp>
        <p:nvSpPr>
          <p:cNvPr id="4" name="Shape 2"/>
          <p:cNvSpPr/>
          <p:nvPr/>
        </p:nvSpPr>
        <p:spPr>
          <a:xfrm>
            <a:off x="502920" y="1737360"/>
            <a:ext cx="5120640" cy="731520"/>
          </a:xfrm>
          <a:prstGeom prst="roundRect">
            <a:avLst>
              <a:gd name="adj" fmla="val 6250"/>
            </a:avLst>
          </a:prstGeom>
          <a:solidFill>
            <a:srgbClr val="151B23"/>
          </a:solidFill>
          <a:ln w="9525">
            <a:solidFill>
              <a:srgbClr val="2A333D"/>
            </a:solidFill>
            <a:prstDash val="solid"/>
          </a:ln>
        </p:spPr>
      </p:sp>
      <p:sp>
        <p:nvSpPr>
          <p:cNvPr id="5" name="Text 3"/>
          <p:cNvSpPr/>
          <p:nvPr/>
        </p:nvSpPr>
        <p:spPr>
          <a:xfrm>
            <a:off x="685800" y="1810512"/>
            <a:ext cx="4754880" cy="594360"/>
          </a:xfrm>
          <a:prstGeom prst="rect">
            <a:avLst/>
          </a:prstGeom>
          <a:noFill/>
          <a:ln/>
        </p:spPr>
        <p:txBody>
          <a:bodyPr wrap="square" rtlCol="0" anchor="t"/>
          <a:lstStyle/>
          <a:p>
            <a:pPr indent="0" marL="0">
              <a:buNone/>
            </a:pPr>
            <a:r>
              <a:rPr lang="en-US" sz="1300" b="1" dirty="0">
                <a:solidFill>
                  <a:srgbClr val="FFFFFF"/>
                </a:solidFill>
                <a:latin typeface="Arial" pitchFamily="34" charset="0"/>
                <a:ea typeface="Arial" pitchFamily="34" charset="-122"/>
                <a:cs typeface="Arial" pitchFamily="34" charset="-120"/>
              </a:rPr>
              <a:t>CRM (Salesforce)
</a:t>
            </a:r>
            <a:pPr indent="0" marL="0">
              <a:buNone/>
            </a:pPr>
            <a:r>
              <a:rPr lang="en-US" sz="1100" dirty="0">
                <a:solidFill>
                  <a:srgbClr val="BAC6CE"/>
                </a:solidFill>
                <a:latin typeface="Arial" pitchFamily="34" charset="0"/>
                <a:ea typeface="Arial" pitchFamily="34" charset="-122"/>
                <a:cs typeface="Arial" pitchFamily="34" charset="-120"/>
              </a:rPr>
              <a:t>mature, deeply invested — supporting the journey at scale</a:t>
            </a:r>
            <a:endParaRPr lang="en-US" sz="1300" dirty="0"/>
          </a:p>
        </p:txBody>
      </p:sp>
      <p:sp>
        <p:nvSpPr>
          <p:cNvPr id="6" name="Text 4"/>
          <p:cNvSpPr/>
          <p:nvPr/>
        </p:nvSpPr>
        <p:spPr>
          <a:xfrm>
            <a:off x="5806440" y="1920240"/>
            <a:ext cx="2834640" cy="457200"/>
          </a:xfrm>
          <a:prstGeom prst="rect">
            <a:avLst/>
          </a:prstGeom>
          <a:noFill/>
          <a:ln/>
        </p:spPr>
        <p:txBody>
          <a:bodyPr wrap="square" rtlCol="0" anchor="ctr"/>
          <a:lstStyle/>
          <a:p>
            <a:pPr indent="0" marL="0">
              <a:buNone/>
            </a:pPr>
            <a:r>
              <a:rPr lang="en-US" sz="1200" i="1" dirty="0">
                <a:solidFill>
                  <a:srgbClr val="FF4FD8"/>
                </a:solidFill>
                <a:latin typeface="Arial" pitchFamily="34" charset="0"/>
                <a:ea typeface="Arial" pitchFamily="34" charset="-122"/>
                <a:cs typeface="Arial" pitchFamily="34" charset="-120"/>
              </a:rPr>
              <a:t>…yet fragmented truth persisted</a:t>
            </a:r>
            <a:endParaRPr lang="en-US" sz="1200" dirty="0"/>
          </a:p>
        </p:txBody>
      </p:sp>
      <p:sp>
        <p:nvSpPr>
          <p:cNvPr id="7" name="Shape 5"/>
          <p:cNvSpPr/>
          <p:nvPr/>
        </p:nvSpPr>
        <p:spPr>
          <a:xfrm>
            <a:off x="502920" y="2578608"/>
            <a:ext cx="5120640" cy="731520"/>
          </a:xfrm>
          <a:prstGeom prst="roundRect">
            <a:avLst>
              <a:gd name="adj" fmla="val 6250"/>
            </a:avLst>
          </a:prstGeom>
          <a:solidFill>
            <a:srgbClr val="151B23"/>
          </a:solidFill>
          <a:ln w="9525">
            <a:solidFill>
              <a:srgbClr val="2A333D"/>
            </a:solidFill>
            <a:prstDash val="solid"/>
          </a:ln>
        </p:spPr>
      </p:sp>
      <p:sp>
        <p:nvSpPr>
          <p:cNvPr id="8" name="Text 6"/>
          <p:cNvSpPr/>
          <p:nvPr/>
        </p:nvSpPr>
        <p:spPr>
          <a:xfrm>
            <a:off x="685800" y="2651760"/>
            <a:ext cx="4754880" cy="594360"/>
          </a:xfrm>
          <a:prstGeom prst="rect">
            <a:avLst/>
          </a:prstGeom>
          <a:noFill/>
          <a:ln/>
        </p:spPr>
        <p:txBody>
          <a:bodyPr wrap="square" rtlCol="0" anchor="t"/>
          <a:lstStyle/>
          <a:p>
            <a:pPr indent="0" marL="0">
              <a:buNone/>
            </a:pPr>
            <a:r>
              <a:rPr lang="en-US" sz="1300" b="1" dirty="0">
                <a:solidFill>
                  <a:srgbClr val="FFFFFF"/>
                </a:solidFill>
                <a:latin typeface="Arial" pitchFamily="34" charset="0"/>
                <a:ea typeface="Arial" pitchFamily="34" charset="-122"/>
                <a:cs typeface="Arial" pitchFamily="34" charset="-120"/>
              </a:rPr>
              <a:t>SIS (records)
</a:t>
            </a:r>
            <a:pPr indent="0" marL="0">
              <a:buNone/>
            </a:pPr>
            <a:r>
              <a:rPr lang="en-US" sz="1100" dirty="0">
                <a:solidFill>
                  <a:srgbClr val="BAC6CE"/>
                </a:solidFill>
                <a:latin typeface="Arial" pitchFamily="34" charset="0"/>
                <a:ea typeface="Arial" pitchFamily="34" charset="-122"/>
                <a:cs typeface="Arial" pitchFamily="34" charset="-120"/>
              </a:rPr>
              <a:t>the legal academic record, bent to fit CBE for years</a:t>
            </a:r>
            <a:endParaRPr lang="en-US" sz="1300" dirty="0"/>
          </a:p>
        </p:txBody>
      </p:sp>
      <p:sp>
        <p:nvSpPr>
          <p:cNvPr id="9" name="Text 7"/>
          <p:cNvSpPr/>
          <p:nvPr/>
        </p:nvSpPr>
        <p:spPr>
          <a:xfrm>
            <a:off x="5806440" y="2761488"/>
            <a:ext cx="2834640" cy="457200"/>
          </a:xfrm>
          <a:prstGeom prst="rect">
            <a:avLst/>
          </a:prstGeom>
          <a:noFill/>
          <a:ln/>
        </p:spPr>
        <p:txBody>
          <a:bodyPr wrap="square" rtlCol="0" anchor="ctr"/>
          <a:lstStyle/>
          <a:p>
            <a:pPr indent="0" marL="0">
              <a:buNone/>
            </a:pPr>
            <a:r>
              <a:rPr lang="en-US" sz="1200" i="1" dirty="0">
                <a:solidFill>
                  <a:srgbClr val="FF4FD8"/>
                </a:solidFill>
                <a:latin typeface="Arial" pitchFamily="34" charset="0"/>
                <a:ea typeface="Arial" pitchFamily="34" charset="-122"/>
                <a:cs typeface="Arial" pitchFamily="34" charset="-120"/>
              </a:rPr>
              <a:t>…where start dates changed silently</a:t>
            </a:r>
            <a:endParaRPr lang="en-US" sz="1200" dirty="0"/>
          </a:p>
        </p:txBody>
      </p:sp>
      <p:sp>
        <p:nvSpPr>
          <p:cNvPr id="10" name="Shape 8"/>
          <p:cNvSpPr/>
          <p:nvPr/>
        </p:nvSpPr>
        <p:spPr>
          <a:xfrm>
            <a:off x="502920" y="3419856"/>
            <a:ext cx="5120640" cy="731520"/>
          </a:xfrm>
          <a:prstGeom prst="roundRect">
            <a:avLst>
              <a:gd name="adj" fmla="val 6250"/>
            </a:avLst>
          </a:prstGeom>
          <a:solidFill>
            <a:srgbClr val="151B23"/>
          </a:solidFill>
          <a:ln w="9525">
            <a:solidFill>
              <a:srgbClr val="2A333D"/>
            </a:solidFill>
            <a:prstDash val="solid"/>
          </a:ln>
        </p:spPr>
      </p:sp>
      <p:sp>
        <p:nvSpPr>
          <p:cNvPr id="11" name="Text 9"/>
          <p:cNvSpPr/>
          <p:nvPr/>
        </p:nvSpPr>
        <p:spPr>
          <a:xfrm>
            <a:off x="685800" y="3493008"/>
            <a:ext cx="4754880" cy="594360"/>
          </a:xfrm>
          <a:prstGeom prst="rect">
            <a:avLst/>
          </a:prstGeom>
          <a:noFill/>
          <a:ln/>
        </p:spPr>
        <p:txBody>
          <a:bodyPr wrap="square" rtlCol="0" anchor="t"/>
          <a:lstStyle/>
          <a:p>
            <a:pPr indent="0" marL="0">
              <a:buNone/>
            </a:pPr>
            <a:r>
              <a:rPr lang="en-US" sz="1300" b="1" dirty="0">
                <a:solidFill>
                  <a:srgbClr val="FFFFFF"/>
                </a:solidFill>
                <a:latin typeface="Arial" pitchFamily="34" charset="0"/>
                <a:ea typeface="Arial" pitchFamily="34" charset="-122"/>
                <a:cs typeface="Arial" pitchFamily="34" charset="-120"/>
              </a:rPr>
              <a:t>Lakehouse + streaming
</a:t>
            </a:r>
            <a:pPr indent="0" marL="0">
              <a:buNone/>
            </a:pPr>
            <a:r>
              <a:rPr lang="en-US" sz="1100" dirty="0">
                <a:solidFill>
                  <a:srgbClr val="BAC6CE"/>
                </a:solidFill>
                <a:latin typeface="Arial" pitchFamily="34" charset="0"/>
                <a:ea typeface="Arial" pitchFamily="34" charset="-122"/>
                <a:cs typeface="Arial" pitchFamily="34" charset="-120"/>
              </a:rPr>
              <a:t>80+ TB platform, event-architecture hiring</a:t>
            </a:r>
            <a:endParaRPr lang="en-US" sz="1300" dirty="0"/>
          </a:p>
        </p:txBody>
      </p:sp>
      <p:sp>
        <p:nvSpPr>
          <p:cNvPr id="12" name="Text 10"/>
          <p:cNvSpPr/>
          <p:nvPr/>
        </p:nvSpPr>
        <p:spPr>
          <a:xfrm>
            <a:off x="5806440" y="3602736"/>
            <a:ext cx="2834640" cy="457200"/>
          </a:xfrm>
          <a:prstGeom prst="rect">
            <a:avLst/>
          </a:prstGeom>
          <a:noFill/>
          <a:ln/>
        </p:spPr>
        <p:txBody>
          <a:bodyPr wrap="square" rtlCol="0" anchor="ctr"/>
          <a:lstStyle/>
          <a:p>
            <a:pPr indent="0" marL="0">
              <a:buNone/>
            </a:pPr>
            <a:r>
              <a:rPr lang="en-US" sz="1200" i="1" dirty="0">
                <a:solidFill>
                  <a:srgbClr val="FF4FD8"/>
                </a:solidFill>
                <a:latin typeface="Arial" pitchFamily="34" charset="0"/>
                <a:ea typeface="Arial" pitchFamily="34" charset="-122"/>
                <a:cs typeface="Arial" pitchFamily="34" charset="-120"/>
              </a:rPr>
              <a:t>…while documents sat invisible</a:t>
            </a:r>
            <a:endParaRPr lang="en-US" sz="1200" dirty="0"/>
          </a:p>
        </p:txBody>
      </p:sp>
      <p:sp>
        <p:nvSpPr>
          <p:cNvPr id="13" name="Shape 11"/>
          <p:cNvSpPr/>
          <p:nvPr/>
        </p:nvSpPr>
        <p:spPr>
          <a:xfrm>
            <a:off x="502920" y="4343400"/>
            <a:ext cx="8138160" cy="658368"/>
          </a:xfrm>
          <a:prstGeom prst="roundRect">
            <a:avLst>
              <a:gd name="adj" fmla="val 6944"/>
            </a:avLst>
          </a:prstGeom>
          <a:solidFill>
            <a:srgbClr val="1A2320"/>
          </a:solidFill>
          <a:ln w="9525">
            <a:solidFill>
              <a:srgbClr val="2A333D"/>
            </a:solidFill>
            <a:prstDash val="solid"/>
          </a:ln>
        </p:spPr>
      </p:sp>
      <p:sp>
        <p:nvSpPr>
          <p:cNvPr id="14" name="Text 12"/>
          <p:cNvSpPr/>
          <p:nvPr/>
        </p:nvSpPr>
        <p:spPr>
          <a:xfrm>
            <a:off x="731520" y="4407408"/>
            <a:ext cx="7680960" cy="530352"/>
          </a:xfrm>
          <a:prstGeom prst="rect">
            <a:avLst/>
          </a:prstGeom>
          <a:noFill/>
          <a:ln/>
        </p:spPr>
        <p:txBody>
          <a:bodyPr wrap="square" rtlCol="0" anchor="ctr"/>
          <a:lstStyle/>
          <a:p>
            <a:pPr indent="0" marL="0">
              <a:buNone/>
            </a:pPr>
            <a:r>
              <a:rPr lang="en-US" sz="1300" b="1" dirty="0">
                <a:solidFill>
                  <a:srgbClr val="19D6C5"/>
                </a:solidFill>
                <a:latin typeface="Arial" pitchFamily="34" charset="0"/>
                <a:ea typeface="Arial" pitchFamily="34" charset="-122"/>
                <a:cs typeface="Arial" pitchFamily="34" charset="-120"/>
              </a:rPr>
              <a:t>Every complaint happened while a world-class toolset was fully in operation. The gap was never the tools — it was the ungoverned seams between them. That is what we fix.</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D11"/>
        </a:solidFill>
      </p:bgPr>
    </p:bg>
    <p:spTree>
      <p:nvGrpSpPr>
        <p:cNvPr id="1" name=""/>
        <p:cNvGrpSpPr/>
        <p:nvPr/>
      </p:nvGrpSpPr>
      <p:grpSpPr>
        <a:xfrm>
          <a:off x="0" y="0"/>
          <a:ext cx="0" cy="0"/>
          <a:chOff x="0" y="0"/>
          <a:chExt cx="0" cy="0"/>
        </a:xfrm>
      </p:grpSpPr>
      <p:sp>
        <p:nvSpPr>
          <p:cNvPr id="2" name="Text 0"/>
          <p:cNvSpPr/>
          <p:nvPr/>
        </p:nvSpPr>
        <p:spPr>
          <a:xfrm>
            <a:off x="502920" y="320040"/>
            <a:ext cx="8138160" cy="274320"/>
          </a:xfrm>
          <a:prstGeom prst="rect">
            <a:avLst/>
          </a:prstGeom>
          <a:noFill/>
          <a:ln/>
        </p:spPr>
        <p:txBody>
          <a:bodyPr wrap="square" rtlCol="0" anchor="ctr"/>
          <a:lstStyle/>
          <a:p>
            <a:pPr indent="0" marL="0">
              <a:buNone/>
            </a:pPr>
            <a:r>
              <a:rPr lang="en-US" sz="1100" spc="200" kern="0" dirty="0">
                <a:solidFill>
                  <a:srgbClr val="19D6C5"/>
                </a:solidFill>
                <a:latin typeface="Courier New" pitchFamily="34" charset="0"/>
                <a:ea typeface="Courier New" pitchFamily="34" charset="-122"/>
                <a:cs typeface="Courier New" pitchFamily="34" charset="-120"/>
              </a:rPr>
              <a:t>THE TARGET ARCHITECTURE · V2</a:t>
            </a:r>
            <a:endParaRPr lang="en-US" sz="1100" dirty="0"/>
          </a:p>
        </p:txBody>
      </p:sp>
      <p:sp>
        <p:nvSpPr>
          <p:cNvPr id="3" name="Text 1"/>
          <p:cNvSpPr/>
          <p:nvPr/>
        </p:nvSpPr>
        <p:spPr>
          <a:xfrm>
            <a:off x="502920" y="621792"/>
            <a:ext cx="8138160" cy="77724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Sovereign records. Governed circulation. One timeline.</a:t>
            </a:r>
            <a:endParaRPr lang="en-US" sz="2700" dirty="0"/>
          </a:p>
        </p:txBody>
      </p:sp>
      <p:sp>
        <p:nvSpPr>
          <p:cNvPr id="4" name="Text 2"/>
          <p:cNvSpPr/>
          <p:nvPr/>
        </p:nvSpPr>
        <p:spPr>
          <a:xfrm>
            <a:off x="502920" y="1581912"/>
            <a:ext cx="1920240" cy="475488"/>
          </a:xfrm>
          <a:prstGeom prst="rect">
            <a:avLst/>
          </a:prstGeom>
          <a:noFill/>
          <a:ln/>
        </p:spPr>
        <p:txBody>
          <a:bodyPr wrap="square" rtlCol="0" anchor="ctr"/>
          <a:lstStyle/>
          <a:p>
            <a:pPr indent="0" marL="0">
              <a:buNone/>
            </a:pPr>
            <a:r>
              <a:rPr lang="en-US" sz="950" dirty="0">
                <a:solidFill>
                  <a:srgbClr val="19D6C5"/>
                </a:solidFill>
                <a:latin typeface="Courier New" pitchFamily="34" charset="0"/>
                <a:ea typeface="Courier New" pitchFamily="34" charset="-122"/>
                <a:cs typeface="Courier New" pitchFamily="34" charset="-120"/>
              </a:rPr>
              <a:t>EXPERIENCES</a:t>
            </a:r>
            <a:endParaRPr lang="en-US" sz="950" dirty="0"/>
          </a:p>
        </p:txBody>
      </p:sp>
      <p:sp>
        <p:nvSpPr>
          <p:cNvPr id="5" name="Shape 3"/>
          <p:cNvSpPr/>
          <p:nvPr/>
        </p:nvSpPr>
        <p:spPr>
          <a:xfrm>
            <a:off x="2514600" y="1600200"/>
            <a:ext cx="1449324" cy="475488"/>
          </a:xfrm>
          <a:prstGeom prst="roundRect">
            <a:avLst>
              <a:gd name="adj" fmla="val 9615"/>
            </a:avLst>
          </a:prstGeom>
          <a:solidFill>
            <a:srgbClr val="151B23"/>
          </a:solidFill>
          <a:ln w="9525">
            <a:solidFill>
              <a:srgbClr val="2A333D"/>
            </a:solidFill>
            <a:prstDash val="solid"/>
          </a:ln>
        </p:spPr>
      </p:sp>
      <p:sp>
        <p:nvSpPr>
          <p:cNvPr id="6" name="Text 4"/>
          <p:cNvSpPr/>
          <p:nvPr/>
        </p:nvSpPr>
        <p:spPr>
          <a:xfrm>
            <a:off x="2514600" y="1600200"/>
            <a:ext cx="1449324" cy="47548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Student</a:t>
            </a:r>
            <a:endParaRPr lang="en-US" sz="1050" dirty="0"/>
          </a:p>
        </p:txBody>
      </p:sp>
      <p:sp>
        <p:nvSpPr>
          <p:cNvPr id="7" name="Shape 5"/>
          <p:cNvSpPr/>
          <p:nvPr/>
        </p:nvSpPr>
        <p:spPr>
          <a:xfrm>
            <a:off x="4073652" y="1600200"/>
            <a:ext cx="1449324" cy="475488"/>
          </a:xfrm>
          <a:prstGeom prst="roundRect">
            <a:avLst>
              <a:gd name="adj" fmla="val 9615"/>
            </a:avLst>
          </a:prstGeom>
          <a:solidFill>
            <a:srgbClr val="151B23"/>
          </a:solidFill>
          <a:ln w="9525">
            <a:solidFill>
              <a:srgbClr val="2A333D"/>
            </a:solidFill>
            <a:prstDash val="solid"/>
          </a:ln>
        </p:spPr>
      </p:sp>
      <p:sp>
        <p:nvSpPr>
          <p:cNvPr id="8" name="Text 6"/>
          <p:cNvSpPr/>
          <p:nvPr/>
        </p:nvSpPr>
        <p:spPr>
          <a:xfrm>
            <a:off x="4073652" y="1600200"/>
            <a:ext cx="1449324" cy="47548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Mentor</a:t>
            </a:r>
            <a:endParaRPr lang="en-US" sz="1050" dirty="0"/>
          </a:p>
        </p:txBody>
      </p:sp>
      <p:sp>
        <p:nvSpPr>
          <p:cNvPr id="9" name="Shape 7"/>
          <p:cNvSpPr/>
          <p:nvPr/>
        </p:nvSpPr>
        <p:spPr>
          <a:xfrm>
            <a:off x="5632704" y="1600200"/>
            <a:ext cx="1449324" cy="475488"/>
          </a:xfrm>
          <a:prstGeom prst="roundRect">
            <a:avLst>
              <a:gd name="adj" fmla="val 9615"/>
            </a:avLst>
          </a:prstGeom>
          <a:solidFill>
            <a:srgbClr val="151B23"/>
          </a:solidFill>
          <a:ln w="9525">
            <a:solidFill>
              <a:srgbClr val="2A333D"/>
            </a:solidFill>
            <a:prstDash val="solid"/>
          </a:ln>
        </p:spPr>
      </p:sp>
      <p:sp>
        <p:nvSpPr>
          <p:cNvPr id="10" name="Text 8"/>
          <p:cNvSpPr/>
          <p:nvPr/>
        </p:nvSpPr>
        <p:spPr>
          <a:xfrm>
            <a:off x="5632704" y="1600200"/>
            <a:ext cx="1449324" cy="47548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Instructor</a:t>
            </a:r>
            <a:endParaRPr lang="en-US" sz="1050" dirty="0"/>
          </a:p>
        </p:txBody>
      </p:sp>
      <p:sp>
        <p:nvSpPr>
          <p:cNvPr id="11" name="Shape 9"/>
          <p:cNvSpPr/>
          <p:nvPr/>
        </p:nvSpPr>
        <p:spPr>
          <a:xfrm>
            <a:off x="7191756" y="1600200"/>
            <a:ext cx="1449324" cy="475488"/>
          </a:xfrm>
          <a:prstGeom prst="roundRect">
            <a:avLst>
              <a:gd name="adj" fmla="val 9615"/>
            </a:avLst>
          </a:prstGeom>
          <a:solidFill>
            <a:srgbClr val="151B23"/>
          </a:solidFill>
          <a:ln w="9525">
            <a:solidFill>
              <a:srgbClr val="2A333D"/>
            </a:solidFill>
            <a:prstDash val="solid"/>
          </a:ln>
        </p:spPr>
      </p:sp>
      <p:sp>
        <p:nvSpPr>
          <p:cNvPr id="12" name="Text 10"/>
          <p:cNvSpPr/>
          <p:nvPr/>
        </p:nvSpPr>
        <p:spPr>
          <a:xfrm>
            <a:off x="7191756" y="1600200"/>
            <a:ext cx="1449324" cy="47548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Ops</a:t>
            </a:r>
            <a:endParaRPr lang="en-US" sz="1050" dirty="0"/>
          </a:p>
        </p:txBody>
      </p:sp>
      <p:sp>
        <p:nvSpPr>
          <p:cNvPr id="13" name="Text 11"/>
          <p:cNvSpPr/>
          <p:nvPr/>
        </p:nvSpPr>
        <p:spPr>
          <a:xfrm>
            <a:off x="502920" y="2176272"/>
            <a:ext cx="1920240" cy="475488"/>
          </a:xfrm>
          <a:prstGeom prst="rect">
            <a:avLst/>
          </a:prstGeom>
          <a:noFill/>
          <a:ln/>
        </p:spPr>
        <p:txBody>
          <a:bodyPr wrap="square" rtlCol="0" anchor="ctr"/>
          <a:lstStyle/>
          <a:p>
            <a:pPr indent="0" marL="0">
              <a:buNone/>
            </a:pPr>
            <a:r>
              <a:rPr lang="en-US" sz="950" dirty="0">
                <a:solidFill>
                  <a:srgbClr val="F2B84B"/>
                </a:solidFill>
                <a:latin typeface="Courier New" pitchFamily="34" charset="0"/>
                <a:ea typeface="Courier New" pitchFamily="34" charset="-122"/>
                <a:cs typeface="Courier New" pitchFamily="34" charset="-120"/>
              </a:rPr>
              <a:t>SYSTEMS OF RECORD</a:t>
            </a:r>
            <a:endParaRPr lang="en-US" sz="950" dirty="0"/>
          </a:p>
        </p:txBody>
      </p:sp>
      <p:sp>
        <p:nvSpPr>
          <p:cNvPr id="14" name="Shape 12"/>
          <p:cNvSpPr/>
          <p:nvPr/>
        </p:nvSpPr>
        <p:spPr>
          <a:xfrm>
            <a:off x="2514600" y="2194560"/>
            <a:ext cx="1449324" cy="475488"/>
          </a:xfrm>
          <a:prstGeom prst="roundRect">
            <a:avLst>
              <a:gd name="adj" fmla="val 9615"/>
            </a:avLst>
          </a:prstGeom>
          <a:solidFill>
            <a:srgbClr val="151B23"/>
          </a:solidFill>
          <a:ln w="9525">
            <a:solidFill>
              <a:srgbClr val="2A333D"/>
            </a:solidFill>
            <a:prstDash val="solid"/>
          </a:ln>
        </p:spPr>
      </p:sp>
      <p:sp>
        <p:nvSpPr>
          <p:cNvPr id="15" name="Text 13"/>
          <p:cNvSpPr/>
          <p:nvPr/>
        </p:nvSpPr>
        <p:spPr>
          <a:xfrm>
            <a:off x="2514600" y="2194560"/>
            <a:ext cx="1449324" cy="47548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SIS · legal record</a:t>
            </a:r>
            <a:endParaRPr lang="en-US" sz="1050" dirty="0"/>
          </a:p>
        </p:txBody>
      </p:sp>
      <p:sp>
        <p:nvSpPr>
          <p:cNvPr id="16" name="Shape 14"/>
          <p:cNvSpPr/>
          <p:nvPr/>
        </p:nvSpPr>
        <p:spPr>
          <a:xfrm>
            <a:off x="4073652" y="2194560"/>
            <a:ext cx="1449324" cy="475488"/>
          </a:xfrm>
          <a:prstGeom prst="roundRect">
            <a:avLst>
              <a:gd name="adj" fmla="val 9615"/>
            </a:avLst>
          </a:prstGeom>
          <a:solidFill>
            <a:srgbClr val="151B23"/>
          </a:solidFill>
          <a:ln w="9525">
            <a:solidFill>
              <a:srgbClr val="2A333D"/>
            </a:solidFill>
            <a:prstDash val="solid"/>
          </a:ln>
        </p:spPr>
      </p:sp>
      <p:sp>
        <p:nvSpPr>
          <p:cNvPr id="17" name="Text 15"/>
          <p:cNvSpPr/>
          <p:nvPr/>
        </p:nvSpPr>
        <p:spPr>
          <a:xfrm>
            <a:off x="4073652" y="2194560"/>
            <a:ext cx="1449324" cy="47548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CRM · relationship</a:t>
            </a:r>
            <a:endParaRPr lang="en-US" sz="1050" dirty="0"/>
          </a:p>
        </p:txBody>
      </p:sp>
      <p:sp>
        <p:nvSpPr>
          <p:cNvPr id="18" name="Shape 16"/>
          <p:cNvSpPr/>
          <p:nvPr/>
        </p:nvSpPr>
        <p:spPr>
          <a:xfrm>
            <a:off x="5632704" y="2194560"/>
            <a:ext cx="1449324" cy="475488"/>
          </a:xfrm>
          <a:prstGeom prst="roundRect">
            <a:avLst>
              <a:gd name="adj" fmla="val 9615"/>
            </a:avLst>
          </a:prstGeom>
          <a:solidFill>
            <a:srgbClr val="151B23"/>
          </a:solidFill>
          <a:ln w="9525">
            <a:solidFill>
              <a:srgbClr val="2A333D"/>
            </a:solidFill>
            <a:prstDash val="solid"/>
          </a:ln>
        </p:spPr>
      </p:sp>
      <p:sp>
        <p:nvSpPr>
          <p:cNvPr id="19" name="Text 17"/>
          <p:cNvSpPr/>
          <p:nvPr/>
        </p:nvSpPr>
        <p:spPr>
          <a:xfrm>
            <a:off x="5632704" y="2194560"/>
            <a:ext cx="1449324" cy="47548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LMS · delivery</a:t>
            </a:r>
            <a:endParaRPr lang="en-US" sz="1050" dirty="0"/>
          </a:p>
        </p:txBody>
      </p:sp>
      <p:sp>
        <p:nvSpPr>
          <p:cNvPr id="20" name="Shape 18"/>
          <p:cNvSpPr/>
          <p:nvPr/>
        </p:nvSpPr>
        <p:spPr>
          <a:xfrm>
            <a:off x="7191756" y="2194560"/>
            <a:ext cx="1449324" cy="475488"/>
          </a:xfrm>
          <a:prstGeom prst="roundRect">
            <a:avLst>
              <a:gd name="adj" fmla="val 9615"/>
            </a:avLst>
          </a:prstGeom>
          <a:solidFill>
            <a:srgbClr val="151B23"/>
          </a:solidFill>
          <a:ln w="9525">
            <a:solidFill>
              <a:srgbClr val="2A333D"/>
            </a:solidFill>
            <a:prstDash val="solid"/>
          </a:ln>
        </p:spPr>
      </p:sp>
      <p:sp>
        <p:nvSpPr>
          <p:cNvPr id="21" name="Text 19"/>
          <p:cNvSpPr/>
          <p:nvPr/>
        </p:nvSpPr>
        <p:spPr>
          <a:xfrm>
            <a:off x="7191756" y="2194560"/>
            <a:ext cx="1449324" cy="47548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Aid · funding</a:t>
            </a:r>
            <a:endParaRPr lang="en-US" sz="1050" dirty="0"/>
          </a:p>
        </p:txBody>
      </p:sp>
      <p:sp>
        <p:nvSpPr>
          <p:cNvPr id="22" name="Text 20"/>
          <p:cNvSpPr/>
          <p:nvPr/>
        </p:nvSpPr>
        <p:spPr>
          <a:xfrm>
            <a:off x="502920" y="2770632"/>
            <a:ext cx="1920240" cy="438912"/>
          </a:xfrm>
          <a:prstGeom prst="rect">
            <a:avLst/>
          </a:prstGeom>
          <a:noFill/>
          <a:ln/>
        </p:spPr>
        <p:txBody>
          <a:bodyPr wrap="square" rtlCol="0" anchor="ctr"/>
          <a:lstStyle/>
          <a:p>
            <a:pPr indent="0" marL="0">
              <a:buNone/>
            </a:pPr>
            <a:r>
              <a:rPr lang="en-US" sz="950" dirty="0">
                <a:solidFill>
                  <a:srgbClr val="19D6C5"/>
                </a:solidFill>
                <a:latin typeface="Courier New" pitchFamily="34" charset="0"/>
                <a:ea typeface="Courier New" pitchFamily="34" charset="-122"/>
                <a:cs typeface="Courier New" pitchFamily="34" charset="-120"/>
              </a:rPr>
              <a:t>EVENT BACKBONE</a:t>
            </a:r>
            <a:endParaRPr lang="en-US" sz="950" dirty="0"/>
          </a:p>
        </p:txBody>
      </p:sp>
      <p:sp>
        <p:nvSpPr>
          <p:cNvPr id="23" name="Shape 21"/>
          <p:cNvSpPr/>
          <p:nvPr/>
        </p:nvSpPr>
        <p:spPr>
          <a:xfrm>
            <a:off x="2514600" y="2788920"/>
            <a:ext cx="6126480" cy="438912"/>
          </a:xfrm>
          <a:prstGeom prst="roundRect">
            <a:avLst>
              <a:gd name="adj" fmla="val 10417"/>
            </a:avLst>
          </a:prstGeom>
          <a:solidFill>
            <a:srgbClr val="151B23"/>
          </a:solidFill>
          <a:ln w="9525">
            <a:solidFill>
              <a:srgbClr val="2A333D"/>
            </a:solidFill>
            <a:prstDash val="solid"/>
          </a:ln>
        </p:spPr>
      </p:sp>
      <p:sp>
        <p:nvSpPr>
          <p:cNvPr id="24" name="Text 22"/>
          <p:cNvSpPr/>
          <p:nvPr/>
        </p:nvSpPr>
        <p:spPr>
          <a:xfrm>
            <a:off x="2514600" y="2788920"/>
            <a:ext cx="6126480" cy="438912"/>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circulation, not truth — every fact flows, everything rebuildable</a:t>
            </a:r>
            <a:endParaRPr lang="en-US" sz="1050" dirty="0"/>
          </a:p>
        </p:txBody>
      </p:sp>
      <p:sp>
        <p:nvSpPr>
          <p:cNvPr id="25" name="Text 23"/>
          <p:cNvSpPr/>
          <p:nvPr/>
        </p:nvSpPr>
        <p:spPr>
          <a:xfrm>
            <a:off x="502920" y="3328416"/>
            <a:ext cx="1920240" cy="475488"/>
          </a:xfrm>
          <a:prstGeom prst="rect">
            <a:avLst/>
          </a:prstGeom>
          <a:noFill/>
          <a:ln/>
        </p:spPr>
        <p:txBody>
          <a:bodyPr wrap="square" rtlCol="0" anchor="ctr"/>
          <a:lstStyle/>
          <a:p>
            <a:pPr indent="0" marL="0">
              <a:buNone/>
            </a:pPr>
            <a:r>
              <a:rPr lang="en-US" sz="950" dirty="0">
                <a:solidFill>
                  <a:srgbClr val="19D6C5"/>
                </a:solidFill>
                <a:latin typeface="Courier New" pitchFamily="34" charset="0"/>
                <a:ea typeface="Courier New" pitchFamily="34" charset="-122"/>
                <a:cs typeface="Courier New" pitchFamily="34" charset="-120"/>
              </a:rPr>
              <a:t>GOVERNED PRODUCTS</a:t>
            </a:r>
            <a:endParaRPr lang="en-US" sz="950" dirty="0"/>
          </a:p>
        </p:txBody>
      </p:sp>
      <p:sp>
        <p:nvSpPr>
          <p:cNvPr id="26" name="Shape 24"/>
          <p:cNvSpPr/>
          <p:nvPr/>
        </p:nvSpPr>
        <p:spPr>
          <a:xfrm>
            <a:off x="2514600" y="3346704"/>
            <a:ext cx="1969008" cy="475488"/>
          </a:xfrm>
          <a:prstGeom prst="roundRect">
            <a:avLst>
              <a:gd name="adj" fmla="val 9615"/>
            </a:avLst>
          </a:prstGeom>
          <a:solidFill>
            <a:srgbClr val="151B23"/>
          </a:solidFill>
          <a:ln w="9525">
            <a:solidFill>
              <a:srgbClr val="2A333D"/>
            </a:solidFill>
            <a:prstDash val="solid"/>
          </a:ln>
        </p:spPr>
      </p:sp>
      <p:sp>
        <p:nvSpPr>
          <p:cNvPr id="27" name="Text 25"/>
          <p:cNvSpPr/>
          <p:nvPr/>
        </p:nvSpPr>
        <p:spPr>
          <a:xfrm>
            <a:off x="2514600" y="3346704"/>
            <a:ext cx="1969008" cy="47548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Student Timeline ★</a:t>
            </a:r>
            <a:endParaRPr lang="en-US" sz="1050" dirty="0"/>
          </a:p>
        </p:txBody>
      </p:sp>
      <p:sp>
        <p:nvSpPr>
          <p:cNvPr id="28" name="Shape 26"/>
          <p:cNvSpPr/>
          <p:nvPr/>
        </p:nvSpPr>
        <p:spPr>
          <a:xfrm>
            <a:off x="4593336" y="3346704"/>
            <a:ext cx="1969008" cy="475488"/>
          </a:xfrm>
          <a:prstGeom prst="roundRect">
            <a:avLst>
              <a:gd name="adj" fmla="val 9615"/>
            </a:avLst>
          </a:prstGeom>
          <a:solidFill>
            <a:srgbClr val="151B23"/>
          </a:solidFill>
          <a:ln w="9525">
            <a:solidFill>
              <a:srgbClr val="2A333D"/>
            </a:solidFill>
            <a:prstDash val="solid"/>
          </a:ln>
        </p:spPr>
      </p:sp>
      <p:sp>
        <p:nvSpPr>
          <p:cNvPr id="29" name="Text 27"/>
          <p:cNvSpPr/>
          <p:nvPr/>
        </p:nvSpPr>
        <p:spPr>
          <a:xfrm>
            <a:off x="4593336" y="3346704"/>
            <a:ext cx="1969008" cy="47548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Competency Ledger</a:t>
            </a:r>
            <a:endParaRPr lang="en-US" sz="1050" dirty="0"/>
          </a:p>
        </p:txBody>
      </p:sp>
      <p:sp>
        <p:nvSpPr>
          <p:cNvPr id="30" name="Shape 28"/>
          <p:cNvSpPr/>
          <p:nvPr/>
        </p:nvSpPr>
        <p:spPr>
          <a:xfrm>
            <a:off x="6672072" y="3346704"/>
            <a:ext cx="1969008" cy="475488"/>
          </a:xfrm>
          <a:prstGeom prst="roundRect">
            <a:avLst>
              <a:gd name="adj" fmla="val 9615"/>
            </a:avLst>
          </a:prstGeom>
          <a:solidFill>
            <a:srgbClr val="151B23"/>
          </a:solidFill>
          <a:ln w="9525">
            <a:solidFill>
              <a:srgbClr val="2A333D"/>
            </a:solidFill>
            <a:prstDash val="solid"/>
          </a:ln>
        </p:spPr>
      </p:sp>
      <p:sp>
        <p:nvSpPr>
          <p:cNvPr id="31" name="Text 29"/>
          <p:cNvSpPr/>
          <p:nvPr/>
        </p:nvSpPr>
        <p:spPr>
          <a:xfrm>
            <a:off x="6672072" y="3346704"/>
            <a:ext cx="1969008" cy="475488"/>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Lakehouse</a:t>
            </a:r>
            <a:endParaRPr lang="en-US" sz="1050" dirty="0"/>
          </a:p>
        </p:txBody>
      </p:sp>
      <p:sp>
        <p:nvSpPr>
          <p:cNvPr id="32" name="Text 30"/>
          <p:cNvSpPr/>
          <p:nvPr/>
        </p:nvSpPr>
        <p:spPr>
          <a:xfrm>
            <a:off x="502920" y="3922776"/>
            <a:ext cx="1920240" cy="438912"/>
          </a:xfrm>
          <a:prstGeom prst="rect">
            <a:avLst/>
          </a:prstGeom>
          <a:noFill/>
          <a:ln/>
        </p:spPr>
        <p:txBody>
          <a:bodyPr wrap="square" rtlCol="0" anchor="ctr"/>
          <a:lstStyle/>
          <a:p>
            <a:pPr indent="0" marL="0">
              <a:buNone/>
            </a:pPr>
            <a:r>
              <a:rPr lang="en-US" sz="950" dirty="0">
                <a:solidFill>
                  <a:srgbClr val="FF4FD8"/>
                </a:solidFill>
                <a:latin typeface="Courier New" pitchFamily="34" charset="0"/>
                <a:ea typeface="Courier New" pitchFamily="34" charset="-122"/>
                <a:cs typeface="Courier New" pitchFamily="34" charset="-120"/>
              </a:rPr>
              <a:t>AI, ONE DOOR</a:t>
            </a:r>
            <a:endParaRPr lang="en-US" sz="950" dirty="0"/>
          </a:p>
        </p:txBody>
      </p:sp>
      <p:sp>
        <p:nvSpPr>
          <p:cNvPr id="33" name="Shape 31"/>
          <p:cNvSpPr/>
          <p:nvPr/>
        </p:nvSpPr>
        <p:spPr>
          <a:xfrm>
            <a:off x="2514600" y="3941064"/>
            <a:ext cx="6126480" cy="438912"/>
          </a:xfrm>
          <a:prstGeom prst="roundRect">
            <a:avLst>
              <a:gd name="adj" fmla="val 10417"/>
            </a:avLst>
          </a:prstGeom>
          <a:solidFill>
            <a:srgbClr val="151B23"/>
          </a:solidFill>
          <a:ln w="9525">
            <a:solidFill>
              <a:srgbClr val="2A333D"/>
            </a:solidFill>
            <a:prstDash val="solid"/>
          </a:ln>
        </p:spPr>
      </p:sp>
      <p:sp>
        <p:nvSpPr>
          <p:cNvPr id="34" name="Text 32"/>
          <p:cNvSpPr/>
          <p:nvPr/>
        </p:nvSpPr>
        <p:spPr>
          <a:xfrm>
            <a:off x="2514600" y="3941064"/>
            <a:ext cx="6126480" cy="438912"/>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governed agent gateway — scoped tools · human-in-the-loop · full audit</a:t>
            </a:r>
            <a:endParaRPr lang="en-US" sz="1050" dirty="0"/>
          </a:p>
        </p:txBody>
      </p:sp>
      <p:sp>
        <p:nvSpPr>
          <p:cNvPr id="35" name="Text 33"/>
          <p:cNvSpPr/>
          <p:nvPr/>
        </p:nvSpPr>
        <p:spPr>
          <a:xfrm>
            <a:off x="502920" y="4480560"/>
            <a:ext cx="1920240" cy="438912"/>
          </a:xfrm>
          <a:prstGeom prst="rect">
            <a:avLst/>
          </a:prstGeom>
          <a:noFill/>
          <a:ln/>
        </p:spPr>
        <p:txBody>
          <a:bodyPr wrap="square" rtlCol="0" anchor="ctr"/>
          <a:lstStyle/>
          <a:p>
            <a:pPr indent="0" marL="0">
              <a:buNone/>
            </a:pPr>
            <a:r>
              <a:rPr lang="en-US" sz="950" dirty="0">
                <a:solidFill>
                  <a:srgbClr val="FF4FD8"/>
                </a:solidFill>
                <a:latin typeface="Courier New" pitchFamily="34" charset="0"/>
                <a:ea typeface="Courier New" pitchFamily="34" charset="-122"/>
                <a:cs typeface="Courier New" pitchFamily="34" charset="-120"/>
              </a:rPr>
              <a:t>IDENTITY &amp; POLICY</a:t>
            </a:r>
            <a:endParaRPr lang="en-US" sz="950" dirty="0"/>
          </a:p>
        </p:txBody>
      </p:sp>
      <p:sp>
        <p:nvSpPr>
          <p:cNvPr id="36" name="Shape 34"/>
          <p:cNvSpPr/>
          <p:nvPr/>
        </p:nvSpPr>
        <p:spPr>
          <a:xfrm>
            <a:off x="2514600" y="4498848"/>
            <a:ext cx="6126480" cy="438912"/>
          </a:xfrm>
          <a:prstGeom prst="roundRect">
            <a:avLst>
              <a:gd name="adj" fmla="val 10417"/>
            </a:avLst>
          </a:prstGeom>
          <a:solidFill>
            <a:srgbClr val="151B23"/>
          </a:solidFill>
          <a:ln w="9525">
            <a:solidFill>
              <a:srgbClr val="2A333D"/>
            </a:solidFill>
            <a:prstDash val="solid"/>
          </a:ln>
        </p:spPr>
      </p:sp>
      <p:sp>
        <p:nvSpPr>
          <p:cNvPr id="37" name="Text 35"/>
          <p:cNvSpPr/>
          <p:nvPr/>
        </p:nvSpPr>
        <p:spPr>
          <a:xfrm>
            <a:off x="2514600" y="4498848"/>
            <a:ext cx="6126480" cy="438912"/>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one universal student ID · FERPA purpose on every event · thin, bought, enforced locally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D11"/>
        </a:solidFill>
      </p:bgPr>
    </p:bg>
    <p:spTree>
      <p:nvGrpSpPr>
        <p:cNvPr id="1" name=""/>
        <p:cNvGrpSpPr/>
        <p:nvPr/>
      </p:nvGrpSpPr>
      <p:grpSpPr>
        <a:xfrm>
          <a:off x="0" y="0"/>
          <a:ext cx="0" cy="0"/>
          <a:chOff x="0" y="0"/>
          <a:chExt cx="0" cy="0"/>
        </a:xfrm>
      </p:grpSpPr>
      <p:sp>
        <p:nvSpPr>
          <p:cNvPr id="2" name="Text 0"/>
          <p:cNvSpPr/>
          <p:nvPr/>
        </p:nvSpPr>
        <p:spPr>
          <a:xfrm>
            <a:off x="502920" y="320040"/>
            <a:ext cx="8138160" cy="274320"/>
          </a:xfrm>
          <a:prstGeom prst="rect">
            <a:avLst/>
          </a:prstGeom>
          <a:noFill/>
          <a:ln/>
        </p:spPr>
        <p:txBody>
          <a:bodyPr wrap="square" rtlCol="0" anchor="ctr"/>
          <a:lstStyle/>
          <a:p>
            <a:pPr indent="0" marL="0">
              <a:buNone/>
            </a:pPr>
            <a:r>
              <a:rPr lang="en-US" sz="1100" spc="200" kern="0" dirty="0">
                <a:solidFill>
                  <a:srgbClr val="19D6C5"/>
                </a:solidFill>
                <a:latin typeface="Courier New" pitchFamily="34" charset="0"/>
                <a:ea typeface="Courier New" pitchFamily="34" charset="-122"/>
                <a:cs typeface="Courier New" pitchFamily="34" charset="-120"/>
              </a:rPr>
              <a:t>ADR-001 · DECIDED</a:t>
            </a:r>
            <a:endParaRPr lang="en-US" sz="1100" dirty="0"/>
          </a:p>
        </p:txBody>
      </p:sp>
      <p:sp>
        <p:nvSpPr>
          <p:cNvPr id="3" name="Text 1"/>
          <p:cNvSpPr/>
          <p:nvPr/>
        </p:nvSpPr>
        <p:spPr>
          <a:xfrm>
            <a:off x="502920" y="621792"/>
            <a:ext cx="8138160" cy="77724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Buy the engagement layer. Build the CBE core.</a:t>
            </a:r>
            <a:endParaRPr lang="en-US" sz="3000" dirty="0"/>
          </a:p>
        </p:txBody>
      </p:sp>
      <p:sp>
        <p:nvSpPr>
          <p:cNvPr id="4" name="Shape 2"/>
          <p:cNvSpPr/>
          <p:nvPr/>
        </p:nvSpPr>
        <p:spPr>
          <a:xfrm>
            <a:off x="502920" y="1691640"/>
            <a:ext cx="3977640" cy="2834640"/>
          </a:xfrm>
          <a:prstGeom prst="roundRect">
            <a:avLst>
              <a:gd name="adj" fmla="val 1613"/>
            </a:avLst>
          </a:prstGeom>
          <a:solidFill>
            <a:srgbClr val="151B23"/>
          </a:solidFill>
          <a:ln w="9525">
            <a:solidFill>
              <a:srgbClr val="2A333D"/>
            </a:solidFill>
            <a:prstDash val="solid"/>
          </a:ln>
        </p:spPr>
      </p:sp>
      <p:sp>
        <p:nvSpPr>
          <p:cNvPr id="5" name="Text 3"/>
          <p:cNvSpPr/>
          <p:nvPr/>
        </p:nvSpPr>
        <p:spPr>
          <a:xfrm>
            <a:off x="731520" y="1828800"/>
            <a:ext cx="3566160" cy="274320"/>
          </a:xfrm>
          <a:prstGeom prst="rect">
            <a:avLst/>
          </a:prstGeom>
          <a:noFill/>
          <a:ln/>
        </p:spPr>
        <p:txBody>
          <a:bodyPr wrap="square" rtlCol="0" anchor="ctr"/>
          <a:lstStyle/>
          <a:p>
            <a:pPr indent="0" marL="0">
              <a:buNone/>
            </a:pPr>
            <a:r>
              <a:rPr lang="en-US" sz="1200" spc="200" kern="0" dirty="0">
                <a:solidFill>
                  <a:srgbClr val="19D6C5"/>
                </a:solidFill>
                <a:latin typeface="Courier New" pitchFamily="34" charset="0"/>
                <a:ea typeface="Courier New" pitchFamily="34" charset="-122"/>
                <a:cs typeface="Courier New" pitchFamily="34" charset="-120"/>
              </a:rPr>
              <a:t>WE BUILD</a:t>
            </a:r>
            <a:endParaRPr lang="en-US" sz="1200" dirty="0"/>
          </a:p>
        </p:txBody>
      </p:sp>
      <p:sp>
        <p:nvSpPr>
          <p:cNvPr id="6" name="Text 4"/>
          <p:cNvSpPr/>
          <p:nvPr/>
        </p:nvSpPr>
        <p:spPr>
          <a:xfrm>
            <a:off x="731520" y="2194560"/>
            <a:ext cx="3566160" cy="2240280"/>
          </a:xfrm>
          <a:prstGeom prst="rect">
            <a:avLst/>
          </a:prstGeom>
          <a:noFill/>
          <a:ln/>
        </p:spPr>
        <p:txBody>
          <a:bodyPr wrap="square" rtlCol="0" anchor="t"/>
          <a:lstStyle/>
          <a:p>
            <a:pPr indent="0" marL="0">
              <a:buNone/>
            </a:pPr>
            <a:r>
              <a:rPr lang="en-US" sz="1300" b="1" dirty="0">
                <a:solidFill>
                  <a:srgbClr val="FFFFFF"/>
                </a:solidFill>
                <a:latin typeface="Arial" pitchFamily="34" charset="0"/>
                <a:ea typeface="Arial" pitchFamily="34" charset="-122"/>
                <a:cs typeface="Arial" pitchFamily="34" charset="-120"/>
              </a:rPr>
              <a:t>Competency Ledger</a:t>
            </a:r>
            <a:endParaRPr lang="en-US" sz="1300" dirty="0"/>
          </a:p>
          <a:p>
            <a:pPr indent="0" marL="0">
              <a:buNone/>
            </a:pPr>
            <a:r>
              <a:rPr lang="en-US" sz="1100" dirty="0">
                <a:solidFill>
                  <a:srgbClr val="BAC6CE"/>
                </a:solidFill>
                <a:latin typeface="Arial" pitchFamily="34" charset="0"/>
                <a:ea typeface="Arial" pitchFamily="34" charset="-122"/>
                <a:cs typeface="Arial" pitchFamily="34" charset="-120"/>
              </a:rPr>
              <a:t>the record of mastery no vendor sells — and the embryo of the academic record
</a:t>
            </a:r>
            <a:endParaRPr lang="en-US" sz="1300" dirty="0"/>
          </a:p>
          <a:p>
            <a:pPr indent="0" marL="0">
              <a:buNone/>
            </a:pPr>
            <a:r>
              <a:rPr lang="en-US" sz="1300" b="1" dirty="0">
                <a:solidFill>
                  <a:srgbClr val="FFFFFF"/>
                </a:solidFill>
                <a:latin typeface="Arial" pitchFamily="34" charset="0"/>
                <a:ea typeface="Arial" pitchFamily="34" charset="-122"/>
                <a:cs typeface="Arial" pitchFamily="34" charset="-120"/>
              </a:rPr>
              <a:t>Student Timeline product</a:t>
            </a:r>
            <a:endParaRPr lang="en-US" sz="1300" dirty="0"/>
          </a:p>
          <a:p>
            <a:pPr indent="0" marL="0">
              <a:buNone/>
            </a:pPr>
            <a:r>
              <a:rPr lang="en-US" sz="1100" dirty="0">
                <a:solidFill>
                  <a:srgbClr val="BAC6CE"/>
                </a:solidFill>
                <a:latin typeface="Arial" pitchFamily="34" charset="0"/>
                <a:ea typeface="Arial" pitchFamily="34" charset="-122"/>
                <a:cs typeface="Arial" pitchFamily="34" charset="-120"/>
              </a:rPr>
              <a:t>CBE-native journey with owners and SLAs
</a:t>
            </a:r>
            <a:endParaRPr lang="en-US" sz="1300" dirty="0"/>
          </a:p>
          <a:p>
            <a:pPr indent="0" marL="0">
              <a:buNone/>
            </a:pPr>
            <a:r>
              <a:rPr lang="en-US" sz="1300" b="1" dirty="0">
                <a:solidFill>
                  <a:srgbClr val="FFFFFF"/>
                </a:solidFill>
                <a:latin typeface="Arial" pitchFamily="34" charset="0"/>
                <a:ea typeface="Arial" pitchFamily="34" charset="-122"/>
                <a:cs typeface="Arial" pitchFamily="34" charset="-120"/>
              </a:rPr>
              <a:t>Decisioning + agent gateway</a:t>
            </a:r>
            <a:endParaRPr lang="en-US" sz="1300" dirty="0"/>
          </a:p>
          <a:p>
            <a:pPr indent="0" marL="0">
              <a:buNone/>
            </a:pPr>
            <a:r>
              <a:rPr lang="en-US" sz="1100" dirty="0">
                <a:solidFill>
                  <a:srgbClr val="BAC6CE"/>
                </a:solidFill>
                <a:latin typeface="Arial" pitchFamily="34" charset="0"/>
                <a:ea typeface="Arial" pitchFamily="34" charset="-122"/>
                <a:cs typeface="Arial" pitchFamily="34" charset="-120"/>
              </a:rPr>
              <a:t>where personalization decisions actually come from</a:t>
            </a:r>
            <a:endParaRPr lang="en-US" sz="1300" dirty="0"/>
          </a:p>
        </p:txBody>
      </p:sp>
      <p:sp>
        <p:nvSpPr>
          <p:cNvPr id="7" name="Shape 5"/>
          <p:cNvSpPr/>
          <p:nvPr/>
        </p:nvSpPr>
        <p:spPr>
          <a:xfrm>
            <a:off x="4663440" y="1691640"/>
            <a:ext cx="3977640" cy="2834640"/>
          </a:xfrm>
          <a:prstGeom prst="roundRect">
            <a:avLst>
              <a:gd name="adj" fmla="val 1613"/>
            </a:avLst>
          </a:prstGeom>
          <a:solidFill>
            <a:srgbClr val="151B23"/>
          </a:solidFill>
          <a:ln w="9525">
            <a:solidFill>
              <a:srgbClr val="2A333D"/>
            </a:solidFill>
            <a:prstDash val="solid"/>
          </a:ln>
        </p:spPr>
      </p:sp>
      <p:sp>
        <p:nvSpPr>
          <p:cNvPr id="8" name="Text 6"/>
          <p:cNvSpPr/>
          <p:nvPr/>
        </p:nvSpPr>
        <p:spPr>
          <a:xfrm>
            <a:off x="4892040" y="1828800"/>
            <a:ext cx="3566160" cy="274320"/>
          </a:xfrm>
          <a:prstGeom prst="rect">
            <a:avLst/>
          </a:prstGeom>
          <a:noFill/>
          <a:ln/>
        </p:spPr>
        <p:txBody>
          <a:bodyPr wrap="square" rtlCol="0" anchor="ctr"/>
          <a:lstStyle/>
          <a:p>
            <a:pPr indent="0" marL="0">
              <a:buNone/>
            </a:pPr>
            <a:r>
              <a:rPr lang="en-US" sz="1200" spc="200" kern="0" dirty="0">
                <a:solidFill>
                  <a:srgbClr val="F2B84B"/>
                </a:solidFill>
                <a:latin typeface="Courier New" pitchFamily="34" charset="0"/>
                <a:ea typeface="Courier New" pitchFamily="34" charset="-122"/>
                <a:cs typeface="Courier New" pitchFamily="34" charset="-120"/>
              </a:rPr>
              <a:t>WE BUY &amp; GOVERN</a:t>
            </a:r>
            <a:endParaRPr lang="en-US" sz="1200" dirty="0"/>
          </a:p>
        </p:txBody>
      </p:sp>
      <p:sp>
        <p:nvSpPr>
          <p:cNvPr id="9" name="Text 7"/>
          <p:cNvSpPr/>
          <p:nvPr/>
        </p:nvSpPr>
        <p:spPr>
          <a:xfrm>
            <a:off x="4892040" y="2194560"/>
            <a:ext cx="3566160" cy="2240280"/>
          </a:xfrm>
          <a:prstGeom prst="rect">
            <a:avLst/>
          </a:prstGeom>
          <a:noFill/>
          <a:ln/>
        </p:spPr>
        <p:txBody>
          <a:bodyPr wrap="square" rtlCol="0" anchor="t"/>
          <a:lstStyle/>
          <a:p>
            <a:pPr indent="0" marL="0">
              <a:buNone/>
            </a:pPr>
            <a:r>
              <a:rPr lang="en-US" sz="1300" b="1" dirty="0">
                <a:solidFill>
                  <a:srgbClr val="FFFFFF"/>
                </a:solidFill>
                <a:latin typeface="Arial" pitchFamily="34" charset="0"/>
                <a:ea typeface="Arial" pitchFamily="34" charset="-122"/>
                <a:cs typeface="Arial" pitchFamily="34" charset="-120"/>
              </a:rPr>
              <a:t>Salesforce — the relationship</a:t>
            </a:r>
            <a:endParaRPr lang="en-US" sz="1300" dirty="0"/>
          </a:p>
          <a:p>
            <a:pPr indent="0" marL="0">
              <a:buNone/>
            </a:pPr>
            <a:r>
              <a:rPr lang="en-US" sz="1100" dirty="0">
                <a:solidFill>
                  <a:srgbClr val="BAC6CE"/>
                </a:solidFill>
                <a:latin typeface="Arial" pitchFamily="34" charset="0"/>
                <a:ea typeface="Arial" pitchFamily="34" charset="-122"/>
                <a:cs typeface="Arial" pitchFamily="34" charset="-120"/>
              </a:rPr>
              <a:t>engagement, cases, identity resolution — under an 8-rule operating playbook
</a:t>
            </a:r>
            <a:endParaRPr lang="en-US" sz="1300" dirty="0"/>
          </a:p>
          <a:p>
            <a:pPr indent="0" marL="0">
              <a:buNone/>
            </a:pPr>
            <a:r>
              <a:rPr lang="en-US" sz="1300" b="1" dirty="0">
                <a:solidFill>
                  <a:srgbClr val="FFFFFF"/>
                </a:solidFill>
                <a:latin typeface="Arial" pitchFamily="34" charset="0"/>
                <a:ea typeface="Arial" pitchFamily="34" charset="-122"/>
                <a:cs typeface="Arial" pitchFamily="34" charset="-120"/>
              </a:rPr>
              <a:t>Title IV &amp; compliance edges</a:t>
            </a:r>
            <a:endParaRPr lang="en-US" sz="1300" dirty="0"/>
          </a:p>
          <a:p>
            <a:pPr indent="0" marL="0">
              <a:buNone/>
            </a:pPr>
            <a:r>
              <a:rPr lang="en-US" sz="1100" dirty="0">
                <a:solidFill>
                  <a:srgbClr val="BAC6CE"/>
                </a:solidFill>
                <a:latin typeface="Arial" pitchFamily="34" charset="0"/>
                <a:ea typeface="Arial" pitchFamily="34" charset="-122"/>
                <a:cs typeface="Arial" pitchFamily="34" charset="-120"/>
              </a:rPr>
              <a:t>regulatory churn machines: never build
</a:t>
            </a:r>
            <a:endParaRPr lang="en-US" sz="1300" dirty="0"/>
          </a:p>
          <a:p>
            <a:pPr indent="0" marL="0">
              <a:buNone/>
            </a:pPr>
            <a:r>
              <a:rPr lang="en-US" sz="1300" b="1" dirty="0">
                <a:solidFill>
                  <a:srgbClr val="FFFFFF"/>
                </a:solidFill>
                <a:latin typeface="Arial" pitchFamily="34" charset="0"/>
                <a:ea typeface="Arial" pitchFamily="34" charset="-122"/>
                <a:cs typeface="Arial" pitchFamily="34" charset="-120"/>
              </a:rPr>
              <a:t>Lakehouse &amp; streaming estate</a:t>
            </a:r>
            <a:endParaRPr lang="en-US" sz="1300" dirty="0"/>
          </a:p>
          <a:p>
            <a:pPr indent="0" marL="0">
              <a:buNone/>
            </a:pPr>
            <a:r>
              <a:rPr lang="en-US" sz="1100" dirty="0">
                <a:solidFill>
                  <a:srgbClr val="BAC6CE"/>
                </a:solidFill>
                <a:latin typeface="Arial" pitchFamily="34" charset="0"/>
                <a:ea typeface="Arial" pitchFamily="34" charset="-122"/>
                <a:cs typeface="Arial" pitchFamily="34" charset="-120"/>
              </a:rPr>
              <a:t>aligned with platforms already proven here</a:t>
            </a:r>
            <a:endParaRPr lang="en-US" sz="1300" dirty="0"/>
          </a:p>
        </p:txBody>
      </p:sp>
      <p:sp>
        <p:nvSpPr>
          <p:cNvPr id="10" name="Text 8"/>
          <p:cNvSpPr/>
          <p:nvPr/>
        </p:nvSpPr>
        <p:spPr>
          <a:xfrm>
            <a:off x="502920" y="4681728"/>
            <a:ext cx="8138160" cy="320040"/>
          </a:xfrm>
          <a:prstGeom prst="rect">
            <a:avLst/>
          </a:prstGeom>
          <a:noFill/>
          <a:ln/>
        </p:spPr>
        <p:txBody>
          <a:bodyPr wrap="square" rtlCol="0" anchor="ctr"/>
          <a:lstStyle/>
          <a:p>
            <a:pPr indent="0" marL="0">
              <a:buNone/>
            </a:pPr>
            <a:r>
              <a:rPr lang="en-US" sz="1300" i="1" dirty="0">
                <a:solidFill>
                  <a:srgbClr val="19D6C5"/>
                </a:solidFill>
                <a:latin typeface="Arial" pitchFamily="34" charset="0"/>
                <a:ea typeface="Arial" pitchFamily="34" charset="-122"/>
                <a:cs typeface="Arial" pitchFamily="34" charset="-120"/>
              </a:rPr>
              <a:t>Greenfield means choosing your ground — spend every engineering hour on what differentiates.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D11"/>
        </a:solidFill>
      </p:bgPr>
    </p:bg>
    <p:spTree>
      <p:nvGrpSpPr>
        <p:cNvPr id="1" name=""/>
        <p:cNvGrpSpPr/>
        <p:nvPr/>
      </p:nvGrpSpPr>
      <p:grpSpPr>
        <a:xfrm>
          <a:off x="0" y="0"/>
          <a:ext cx="0" cy="0"/>
          <a:chOff x="0" y="0"/>
          <a:chExt cx="0" cy="0"/>
        </a:xfrm>
      </p:grpSpPr>
      <p:sp>
        <p:nvSpPr>
          <p:cNvPr id="2" name="Text 0"/>
          <p:cNvSpPr/>
          <p:nvPr/>
        </p:nvSpPr>
        <p:spPr>
          <a:xfrm>
            <a:off x="502920" y="320040"/>
            <a:ext cx="8138160" cy="274320"/>
          </a:xfrm>
          <a:prstGeom prst="rect">
            <a:avLst/>
          </a:prstGeom>
          <a:noFill/>
          <a:ln/>
        </p:spPr>
        <p:txBody>
          <a:bodyPr wrap="square" rtlCol="0" anchor="ctr"/>
          <a:lstStyle/>
          <a:p>
            <a:pPr indent="0" marL="0">
              <a:buNone/>
            </a:pPr>
            <a:r>
              <a:rPr lang="en-US" sz="1100" spc="200" kern="0" dirty="0">
                <a:solidFill>
                  <a:srgbClr val="19D6C5"/>
                </a:solidFill>
                <a:latin typeface="Courier New" pitchFamily="34" charset="0"/>
                <a:ea typeface="Courier New" pitchFamily="34" charset="-122"/>
                <a:cs typeface="Courier New" pitchFamily="34" charset="-120"/>
              </a:rPr>
              <a:t>PROOF IN EXECUTION</a:t>
            </a:r>
            <a:endParaRPr lang="en-US" sz="1100" dirty="0"/>
          </a:p>
        </p:txBody>
      </p:sp>
      <p:sp>
        <p:nvSpPr>
          <p:cNvPr id="3" name="Text 1"/>
          <p:cNvSpPr/>
          <p:nvPr/>
        </p:nvSpPr>
        <p:spPr>
          <a:xfrm>
            <a:off x="502920" y="621792"/>
            <a:ext cx="8138160" cy="77724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It isn't slideware. It runs, and the math is done.</a:t>
            </a:r>
            <a:endParaRPr lang="en-US" sz="3000" dirty="0"/>
          </a:p>
        </p:txBody>
      </p:sp>
      <p:sp>
        <p:nvSpPr>
          <p:cNvPr id="4" name="Shape 2"/>
          <p:cNvSpPr/>
          <p:nvPr/>
        </p:nvSpPr>
        <p:spPr>
          <a:xfrm>
            <a:off x="502920" y="1691640"/>
            <a:ext cx="3977640" cy="1371600"/>
          </a:xfrm>
          <a:prstGeom prst="roundRect">
            <a:avLst>
              <a:gd name="adj" fmla="val 3333"/>
            </a:avLst>
          </a:prstGeom>
          <a:solidFill>
            <a:srgbClr val="151B23"/>
          </a:solidFill>
          <a:ln w="9525">
            <a:solidFill>
              <a:srgbClr val="2A333D"/>
            </a:solidFill>
            <a:prstDash val="solid"/>
          </a:ln>
        </p:spPr>
      </p:sp>
      <p:sp>
        <p:nvSpPr>
          <p:cNvPr id="5" name="Text 3"/>
          <p:cNvSpPr/>
          <p:nvPr/>
        </p:nvSpPr>
        <p:spPr>
          <a:xfrm>
            <a:off x="731520" y="1783080"/>
            <a:ext cx="3566160" cy="457200"/>
          </a:xfrm>
          <a:prstGeom prst="rect">
            <a:avLst/>
          </a:prstGeom>
          <a:noFill/>
          <a:ln/>
        </p:spPr>
        <p:txBody>
          <a:bodyPr wrap="square" rtlCol="0" anchor="ctr"/>
          <a:lstStyle/>
          <a:p>
            <a:pPr indent="0" marL="0">
              <a:buNone/>
            </a:pPr>
            <a:r>
              <a:rPr lang="en-US" sz="2800" b="1" dirty="0">
                <a:solidFill>
                  <a:srgbClr val="19D6C5"/>
                </a:solidFill>
                <a:latin typeface="Arial" pitchFamily="34" charset="0"/>
                <a:ea typeface="Arial" pitchFamily="34" charset="-122"/>
                <a:cs typeface="Arial" pitchFamily="34" charset="-120"/>
              </a:rPr>
              <a:t>9 / 9</a:t>
            </a:r>
            <a:endParaRPr lang="en-US" sz="2800" dirty="0"/>
          </a:p>
        </p:txBody>
      </p:sp>
      <p:sp>
        <p:nvSpPr>
          <p:cNvPr id="6" name="Text 4"/>
          <p:cNvSpPr/>
          <p:nvPr/>
        </p:nvSpPr>
        <p:spPr>
          <a:xfrm>
            <a:off x="731520" y="2258568"/>
            <a:ext cx="3566160" cy="731520"/>
          </a:xfrm>
          <a:prstGeom prst="rect">
            <a:avLst/>
          </a:prstGeom>
          <a:noFill/>
          <a:ln/>
        </p:spPr>
        <p:txBody>
          <a:bodyPr wrap="square" rtlCol="0" anchor="t"/>
          <a:lstStyle/>
          <a:p>
            <a:pPr indent="0" marL="0">
              <a:buNone/>
            </a:pPr>
            <a:r>
              <a:rPr lang="en-US" sz="1050" dirty="0">
                <a:solidFill>
                  <a:srgbClr val="BAC6CE"/>
                </a:solidFill>
                <a:latin typeface="Arial" pitchFamily="34" charset="0"/>
                <a:ea typeface="Arial" pitchFamily="34" charset="-122"/>
                <a:cs typeface="Arial" pitchFamily="34" charset="-120"/>
              </a:rPr>
              <a:t>tests passing in the reference implementation — envelope law, outbox flow, idempotent projections, SLA escalation, tamper-evident ledger</a:t>
            </a:r>
            <a:endParaRPr lang="en-US" sz="1050" dirty="0"/>
          </a:p>
        </p:txBody>
      </p:sp>
      <p:sp>
        <p:nvSpPr>
          <p:cNvPr id="7" name="Shape 5"/>
          <p:cNvSpPr/>
          <p:nvPr/>
        </p:nvSpPr>
        <p:spPr>
          <a:xfrm>
            <a:off x="4663440" y="1691640"/>
            <a:ext cx="3977640" cy="1371600"/>
          </a:xfrm>
          <a:prstGeom prst="roundRect">
            <a:avLst>
              <a:gd name="adj" fmla="val 3333"/>
            </a:avLst>
          </a:prstGeom>
          <a:solidFill>
            <a:srgbClr val="151B23"/>
          </a:solidFill>
          <a:ln w="9525">
            <a:solidFill>
              <a:srgbClr val="2A333D"/>
            </a:solidFill>
            <a:prstDash val="solid"/>
          </a:ln>
        </p:spPr>
      </p:sp>
      <p:sp>
        <p:nvSpPr>
          <p:cNvPr id="8" name="Text 6"/>
          <p:cNvSpPr/>
          <p:nvPr/>
        </p:nvSpPr>
        <p:spPr>
          <a:xfrm>
            <a:off x="4892040" y="1783080"/>
            <a:ext cx="3566160" cy="457200"/>
          </a:xfrm>
          <a:prstGeom prst="rect">
            <a:avLst/>
          </a:prstGeom>
          <a:noFill/>
          <a:ln/>
        </p:spPr>
        <p:txBody>
          <a:bodyPr wrap="square" rtlCol="0" anchor="ctr"/>
          <a:lstStyle/>
          <a:p>
            <a:pPr indent="0" marL="0">
              <a:buNone/>
            </a:pPr>
            <a:r>
              <a:rPr lang="en-US" sz="2800" b="1" dirty="0">
                <a:solidFill>
                  <a:srgbClr val="F2B84B"/>
                </a:solidFill>
                <a:latin typeface="Arial" pitchFamily="34" charset="0"/>
                <a:ea typeface="Arial" pitchFamily="34" charset="-122"/>
                <a:cs typeface="Arial" pitchFamily="34" charset="-120"/>
              </a:rPr>
              <a:t>~20 min</a:t>
            </a:r>
            <a:endParaRPr lang="en-US" sz="2800" dirty="0"/>
          </a:p>
        </p:txBody>
      </p:sp>
      <p:sp>
        <p:nvSpPr>
          <p:cNvPr id="9" name="Text 7"/>
          <p:cNvSpPr/>
          <p:nvPr/>
        </p:nvSpPr>
        <p:spPr>
          <a:xfrm>
            <a:off x="4892040" y="2258568"/>
            <a:ext cx="3566160" cy="731520"/>
          </a:xfrm>
          <a:prstGeom prst="rect">
            <a:avLst/>
          </a:prstGeom>
          <a:noFill/>
          <a:ln/>
        </p:spPr>
        <p:txBody>
          <a:bodyPr wrap="square" rtlCol="0" anchor="t"/>
          <a:lstStyle/>
          <a:p>
            <a:pPr indent="0" marL="0">
              <a:buNone/>
            </a:pPr>
            <a:r>
              <a:rPr lang="en-US" sz="1050" dirty="0">
                <a:solidFill>
                  <a:srgbClr val="BAC6CE"/>
                </a:solidFill>
                <a:latin typeface="Arial" pitchFamily="34" charset="0"/>
                <a:ea typeface="Arial" pitchFamily="34" charset="-122"/>
                <a:cs typeface="Arial" pitchFamily="34" charset="-120"/>
              </a:rPr>
              <a:t>full five-year ledger replay at conservative throughput — the scariest event-sourcing objection, measured in coffee breaks</a:t>
            </a:r>
            <a:endParaRPr lang="en-US" sz="1050" dirty="0"/>
          </a:p>
        </p:txBody>
      </p:sp>
      <p:sp>
        <p:nvSpPr>
          <p:cNvPr id="10" name="Shape 8"/>
          <p:cNvSpPr/>
          <p:nvPr/>
        </p:nvSpPr>
        <p:spPr>
          <a:xfrm>
            <a:off x="502920" y="3200400"/>
            <a:ext cx="3977640" cy="1371600"/>
          </a:xfrm>
          <a:prstGeom prst="roundRect">
            <a:avLst>
              <a:gd name="adj" fmla="val 3333"/>
            </a:avLst>
          </a:prstGeom>
          <a:solidFill>
            <a:srgbClr val="151B23"/>
          </a:solidFill>
          <a:ln w="9525">
            <a:solidFill>
              <a:srgbClr val="2A333D"/>
            </a:solidFill>
            <a:prstDash val="solid"/>
          </a:ln>
        </p:spPr>
      </p:sp>
      <p:sp>
        <p:nvSpPr>
          <p:cNvPr id="11" name="Text 9"/>
          <p:cNvSpPr/>
          <p:nvPr/>
        </p:nvSpPr>
        <p:spPr>
          <a:xfrm>
            <a:off x="731520" y="3291840"/>
            <a:ext cx="3566160" cy="457200"/>
          </a:xfrm>
          <a:prstGeom prst="rect">
            <a:avLst/>
          </a:prstGeom>
          <a:noFill/>
          <a:ln/>
        </p:spPr>
        <p:txBody>
          <a:bodyPr wrap="square" rtlCol="0" anchor="ctr"/>
          <a:lstStyle/>
          <a:p>
            <a:pPr indent="0" marL="0">
              <a:buNone/>
            </a:pPr>
            <a:r>
              <a:rPr lang="en-US" sz="2800" b="1" dirty="0">
                <a:solidFill>
                  <a:srgbClr val="19D6C5"/>
                </a:solidFill>
                <a:latin typeface="Arial" pitchFamily="34" charset="0"/>
                <a:ea typeface="Arial" pitchFamily="34" charset="-122"/>
                <a:cs typeface="Arial" pitchFamily="34" charset="-120"/>
              </a:rPr>
              <a:t>600 / sec</a:t>
            </a:r>
            <a:endParaRPr lang="en-US" sz="2800" dirty="0"/>
          </a:p>
        </p:txBody>
      </p:sp>
      <p:sp>
        <p:nvSpPr>
          <p:cNvPr id="12" name="Text 10"/>
          <p:cNvSpPr/>
          <p:nvPr/>
        </p:nvSpPr>
        <p:spPr>
          <a:xfrm>
            <a:off x="731520" y="3767328"/>
            <a:ext cx="3566160" cy="731520"/>
          </a:xfrm>
          <a:prstGeom prst="rect">
            <a:avLst/>
          </a:prstGeom>
          <a:noFill/>
          <a:ln/>
        </p:spPr>
        <p:txBody>
          <a:bodyPr wrap="square" rtlCol="0" anchor="t"/>
          <a:lstStyle/>
          <a:p>
            <a:pPr indent="0" marL="0">
              <a:buNone/>
            </a:pPr>
            <a:r>
              <a:rPr lang="en-US" sz="1050" dirty="0">
                <a:solidFill>
                  <a:srgbClr val="BAC6CE"/>
                </a:solidFill>
                <a:latin typeface="Arial" pitchFamily="34" charset="0"/>
                <a:ea typeface="Arial" pitchFamily="34" charset="-122"/>
                <a:cs typeface="Arial" pitchFamily="34" charset="-120"/>
              </a:rPr>
              <a:t>peak event rate at 190K students — two orders of magnitude below a modest Kafka cluster's capability</a:t>
            </a:r>
            <a:endParaRPr lang="en-US" sz="1050" dirty="0"/>
          </a:p>
        </p:txBody>
      </p:sp>
      <p:sp>
        <p:nvSpPr>
          <p:cNvPr id="13" name="Shape 11"/>
          <p:cNvSpPr/>
          <p:nvPr/>
        </p:nvSpPr>
        <p:spPr>
          <a:xfrm>
            <a:off x="4663440" y="3200400"/>
            <a:ext cx="3977640" cy="1371600"/>
          </a:xfrm>
          <a:prstGeom prst="roundRect">
            <a:avLst>
              <a:gd name="adj" fmla="val 3333"/>
            </a:avLst>
          </a:prstGeom>
          <a:solidFill>
            <a:srgbClr val="151B23"/>
          </a:solidFill>
          <a:ln w="9525">
            <a:solidFill>
              <a:srgbClr val="2A333D"/>
            </a:solidFill>
            <a:prstDash val="solid"/>
          </a:ln>
        </p:spPr>
      </p:sp>
      <p:sp>
        <p:nvSpPr>
          <p:cNvPr id="14" name="Text 12"/>
          <p:cNvSpPr/>
          <p:nvPr/>
        </p:nvSpPr>
        <p:spPr>
          <a:xfrm>
            <a:off x="4892040" y="3291840"/>
            <a:ext cx="3566160" cy="457200"/>
          </a:xfrm>
          <a:prstGeom prst="rect">
            <a:avLst/>
          </a:prstGeom>
          <a:noFill/>
          <a:ln/>
        </p:spPr>
        <p:txBody>
          <a:bodyPr wrap="square" rtlCol="0" anchor="ctr"/>
          <a:lstStyle/>
          <a:p>
            <a:pPr indent="0" marL="0">
              <a:buNone/>
            </a:pPr>
            <a:r>
              <a:rPr lang="en-US" sz="2800" b="1" dirty="0">
                <a:solidFill>
                  <a:srgbClr val="FF4FD8"/>
                </a:solidFill>
                <a:latin typeface="Arial" pitchFamily="34" charset="0"/>
                <a:ea typeface="Arial" pitchFamily="34" charset="-122"/>
                <a:cs typeface="Arial" pitchFamily="34" charset="-120"/>
              </a:rPr>
              <a:t>&lt; $2</a:t>
            </a:r>
            <a:endParaRPr lang="en-US" sz="2800" dirty="0"/>
          </a:p>
        </p:txBody>
      </p:sp>
      <p:sp>
        <p:nvSpPr>
          <p:cNvPr id="15" name="Text 13"/>
          <p:cNvSpPr/>
          <p:nvPr/>
        </p:nvSpPr>
        <p:spPr>
          <a:xfrm>
            <a:off x="4892040" y="3767328"/>
            <a:ext cx="3566160" cy="731520"/>
          </a:xfrm>
          <a:prstGeom prst="rect">
            <a:avLst/>
          </a:prstGeom>
          <a:noFill/>
          <a:ln/>
        </p:spPr>
        <p:txBody>
          <a:bodyPr wrap="square" rtlCol="0" anchor="t"/>
          <a:lstStyle/>
          <a:p>
            <a:pPr indent="0" marL="0">
              <a:buNone/>
            </a:pPr>
            <a:r>
              <a:rPr lang="en-US" sz="1050" dirty="0">
                <a:solidFill>
                  <a:srgbClr val="BAC6CE"/>
                </a:solidFill>
                <a:latin typeface="Arial" pitchFamily="34" charset="0"/>
                <a:ea typeface="Arial" pitchFamily="34" charset="-122"/>
                <a:cs typeface="Arial" pitchFamily="34" charset="-120"/>
              </a:rPr>
              <a:t>platform cost per student per term — less than a single support call; under 0.05% of tuition</a:t>
            </a:r>
            <a:endParaRPr lang="en-US" sz="1050" dirty="0"/>
          </a:p>
        </p:txBody>
      </p:sp>
      <p:sp>
        <p:nvSpPr>
          <p:cNvPr id="16" name="Text 14"/>
          <p:cNvSpPr/>
          <p:nvPr/>
        </p:nvSpPr>
        <p:spPr>
          <a:xfrm>
            <a:off x="502920" y="4800600"/>
            <a:ext cx="8138160" cy="256032"/>
          </a:xfrm>
          <a:prstGeom prst="rect">
            <a:avLst/>
          </a:prstGeom>
          <a:noFill/>
          <a:ln/>
        </p:spPr>
        <p:txBody>
          <a:bodyPr wrap="square" rtlCol="0" anchor="ctr"/>
          <a:lstStyle/>
          <a:p>
            <a:pPr indent="0" marL="0">
              <a:buNone/>
            </a:pPr>
            <a:r>
              <a:rPr lang="en-US" sz="1000" dirty="0">
                <a:solidFill>
                  <a:srgbClr val="76838C"/>
                </a:solidFill>
                <a:latin typeface="Courier New" pitchFamily="34" charset="0"/>
                <a:ea typeface="Courier New" pitchFamily="34" charset="-122"/>
                <a:cs typeface="Courier New" pitchFamily="34" charset="-120"/>
              </a:rPr>
              <a:t>Reference repo: envelope · outbox · projection · hash-chained ledger · the black hole, closed.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D11"/>
        </a:solidFill>
      </p:bgPr>
    </p:bg>
    <p:spTree>
      <p:nvGrpSpPr>
        <p:cNvPr id="1" name=""/>
        <p:cNvGrpSpPr/>
        <p:nvPr/>
      </p:nvGrpSpPr>
      <p:grpSpPr>
        <a:xfrm>
          <a:off x="0" y="0"/>
          <a:ext cx="0" cy="0"/>
          <a:chOff x="0" y="0"/>
          <a:chExt cx="0" cy="0"/>
        </a:xfrm>
      </p:grpSpPr>
      <p:sp>
        <p:nvSpPr>
          <p:cNvPr id="2" name="Text 0"/>
          <p:cNvSpPr/>
          <p:nvPr/>
        </p:nvSpPr>
        <p:spPr>
          <a:xfrm>
            <a:off x="502920" y="320040"/>
            <a:ext cx="8138160" cy="274320"/>
          </a:xfrm>
          <a:prstGeom prst="rect">
            <a:avLst/>
          </a:prstGeom>
          <a:noFill/>
          <a:ln/>
        </p:spPr>
        <p:txBody>
          <a:bodyPr wrap="square" rtlCol="0" anchor="ctr"/>
          <a:lstStyle/>
          <a:p>
            <a:pPr indent="0" marL="0">
              <a:buNone/>
            </a:pPr>
            <a:r>
              <a:rPr lang="en-US" sz="1100" spc="200" kern="0" dirty="0">
                <a:solidFill>
                  <a:srgbClr val="FF4FD8"/>
                </a:solidFill>
                <a:latin typeface="Courier New" pitchFamily="34" charset="0"/>
                <a:ea typeface="Courier New" pitchFamily="34" charset="-122"/>
                <a:cs typeface="Courier New" pitchFamily="34" charset="-120"/>
              </a:rPr>
              <a:t>TRUST, AS NUMBERS WITH CONSEQUENCES</a:t>
            </a:r>
            <a:endParaRPr lang="en-US" sz="1100" dirty="0"/>
          </a:p>
        </p:txBody>
      </p:sp>
      <p:sp>
        <p:nvSpPr>
          <p:cNvPr id="3" name="Text 1"/>
          <p:cNvSpPr/>
          <p:nvPr/>
        </p:nvSpPr>
        <p:spPr>
          <a:xfrm>
            <a:off x="502920" y="621792"/>
            <a:ext cx="8138160" cy="77724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Governed means measured — and one line never moves.</a:t>
            </a:r>
            <a:endParaRPr lang="en-US" sz="3000" dirty="0"/>
          </a:p>
        </p:txBody>
      </p:sp>
      <p:sp>
        <p:nvSpPr>
          <p:cNvPr id="4" name="Shape 2"/>
          <p:cNvSpPr/>
          <p:nvPr/>
        </p:nvSpPr>
        <p:spPr>
          <a:xfrm>
            <a:off x="502920" y="1691640"/>
            <a:ext cx="1965960" cy="1325880"/>
          </a:xfrm>
          <a:prstGeom prst="roundRect">
            <a:avLst>
              <a:gd name="adj" fmla="val 3448"/>
            </a:avLst>
          </a:prstGeom>
          <a:solidFill>
            <a:srgbClr val="151B23"/>
          </a:solidFill>
          <a:ln w="9525">
            <a:solidFill>
              <a:srgbClr val="2A333D"/>
            </a:solidFill>
            <a:prstDash val="solid"/>
          </a:ln>
        </p:spPr>
      </p:sp>
      <p:sp>
        <p:nvSpPr>
          <p:cNvPr id="5" name="Text 3"/>
          <p:cNvSpPr/>
          <p:nvPr/>
        </p:nvSpPr>
        <p:spPr>
          <a:xfrm>
            <a:off x="640080" y="1783080"/>
            <a:ext cx="1691640" cy="411480"/>
          </a:xfrm>
          <a:prstGeom prst="rect">
            <a:avLst/>
          </a:prstGeom>
          <a:noFill/>
          <a:ln/>
        </p:spPr>
        <p:txBody>
          <a:bodyPr wrap="square" rtlCol="0" anchor="ctr"/>
          <a:lstStyle/>
          <a:p>
            <a:pPr indent="0" marL="0">
              <a:buNone/>
            </a:pPr>
            <a:r>
              <a:rPr lang="en-US" sz="2200" b="1" dirty="0">
                <a:solidFill>
                  <a:srgbClr val="19D6C5"/>
                </a:solidFill>
                <a:latin typeface="Arial" pitchFamily="34" charset="0"/>
                <a:ea typeface="Arial" pitchFamily="34" charset="-122"/>
                <a:cs typeface="Arial" pitchFamily="34" charset="-120"/>
              </a:rPr>
              <a:t>99.9%</a:t>
            </a:r>
            <a:endParaRPr lang="en-US" sz="2200" dirty="0"/>
          </a:p>
        </p:txBody>
      </p:sp>
      <p:sp>
        <p:nvSpPr>
          <p:cNvPr id="6" name="Text 4"/>
          <p:cNvSpPr/>
          <p:nvPr/>
        </p:nvSpPr>
        <p:spPr>
          <a:xfrm>
            <a:off x="640080" y="2240280"/>
            <a:ext cx="1691640" cy="685800"/>
          </a:xfrm>
          <a:prstGeom prst="rect">
            <a:avLst/>
          </a:prstGeom>
          <a:noFill/>
          <a:ln/>
        </p:spPr>
        <p:txBody>
          <a:bodyPr wrap="square" rtlCol="0" anchor="t"/>
          <a:lstStyle/>
          <a:p>
            <a:pPr indent="0" marL="0">
              <a:buNone/>
            </a:pPr>
            <a:r>
              <a:rPr lang="en-US" sz="1000" dirty="0">
                <a:solidFill>
                  <a:srgbClr val="BAC6CE"/>
                </a:solidFill>
                <a:latin typeface="Arial" pitchFamily="34" charset="0"/>
                <a:ea typeface="Arial" pitchFamily="34" charset="-122"/>
                <a:cs typeface="Arial" pitchFamily="34" charset="-120"/>
              </a:rPr>
              <a:t>student login success, measured on real users</a:t>
            </a:r>
            <a:endParaRPr lang="en-US" sz="1000" dirty="0"/>
          </a:p>
        </p:txBody>
      </p:sp>
      <p:sp>
        <p:nvSpPr>
          <p:cNvPr id="7" name="Shape 5"/>
          <p:cNvSpPr/>
          <p:nvPr/>
        </p:nvSpPr>
        <p:spPr>
          <a:xfrm>
            <a:off x="2615184" y="1691640"/>
            <a:ext cx="1965960" cy="1325880"/>
          </a:xfrm>
          <a:prstGeom prst="roundRect">
            <a:avLst>
              <a:gd name="adj" fmla="val 3448"/>
            </a:avLst>
          </a:prstGeom>
          <a:solidFill>
            <a:srgbClr val="151B23"/>
          </a:solidFill>
          <a:ln w="9525">
            <a:solidFill>
              <a:srgbClr val="2A333D"/>
            </a:solidFill>
            <a:prstDash val="solid"/>
          </a:ln>
        </p:spPr>
      </p:sp>
      <p:sp>
        <p:nvSpPr>
          <p:cNvPr id="8" name="Text 6"/>
          <p:cNvSpPr/>
          <p:nvPr/>
        </p:nvSpPr>
        <p:spPr>
          <a:xfrm>
            <a:off x="2752344" y="1783080"/>
            <a:ext cx="1691640" cy="411480"/>
          </a:xfrm>
          <a:prstGeom prst="rect">
            <a:avLst/>
          </a:prstGeom>
          <a:noFill/>
          <a:ln/>
        </p:spPr>
        <p:txBody>
          <a:bodyPr wrap="square" rtlCol="0" anchor="ctr"/>
          <a:lstStyle/>
          <a:p>
            <a:pPr indent="0" marL="0">
              <a:buNone/>
            </a:pPr>
            <a:r>
              <a:rPr lang="en-US" sz="2200" b="1" dirty="0">
                <a:solidFill>
                  <a:srgbClr val="19D6C5"/>
                </a:solidFill>
                <a:latin typeface="Arial" pitchFamily="34" charset="0"/>
                <a:ea typeface="Arial" pitchFamily="34" charset="-122"/>
                <a:cs typeface="Arial" pitchFamily="34" charset="-120"/>
              </a:rPr>
              <a:t>&lt; 60 sec</a:t>
            </a:r>
            <a:endParaRPr lang="en-US" sz="2200" dirty="0"/>
          </a:p>
        </p:txBody>
      </p:sp>
      <p:sp>
        <p:nvSpPr>
          <p:cNvPr id="9" name="Text 7"/>
          <p:cNvSpPr/>
          <p:nvPr/>
        </p:nvSpPr>
        <p:spPr>
          <a:xfrm>
            <a:off x="2752344" y="2240280"/>
            <a:ext cx="1691640" cy="685800"/>
          </a:xfrm>
          <a:prstGeom prst="rect">
            <a:avLst/>
          </a:prstGeom>
          <a:noFill/>
          <a:ln/>
        </p:spPr>
        <p:txBody>
          <a:bodyPr wrap="square" rtlCol="0" anchor="t"/>
          <a:lstStyle/>
          <a:p>
            <a:pPr indent="0" marL="0">
              <a:buNone/>
            </a:pPr>
            <a:r>
              <a:rPr lang="en-US" sz="1000" dirty="0">
                <a:solidFill>
                  <a:srgbClr val="BAC6CE"/>
                </a:solidFill>
                <a:latin typeface="Arial" pitchFamily="34" charset="0"/>
                <a:ea typeface="Arial" pitchFamily="34" charset="-122"/>
                <a:cs typeface="Arial" pitchFamily="34" charset="-120"/>
              </a:rPr>
              <a:t>from document receipt to student-visible status</a:t>
            </a:r>
            <a:endParaRPr lang="en-US" sz="1000" dirty="0"/>
          </a:p>
        </p:txBody>
      </p:sp>
      <p:sp>
        <p:nvSpPr>
          <p:cNvPr id="10" name="Shape 8"/>
          <p:cNvSpPr/>
          <p:nvPr/>
        </p:nvSpPr>
        <p:spPr>
          <a:xfrm>
            <a:off x="4727448" y="1691640"/>
            <a:ext cx="1965960" cy="1325880"/>
          </a:xfrm>
          <a:prstGeom prst="roundRect">
            <a:avLst>
              <a:gd name="adj" fmla="val 3448"/>
            </a:avLst>
          </a:prstGeom>
          <a:solidFill>
            <a:srgbClr val="151B23"/>
          </a:solidFill>
          <a:ln w="9525">
            <a:solidFill>
              <a:srgbClr val="2A333D"/>
            </a:solidFill>
            <a:prstDash val="solid"/>
          </a:ln>
        </p:spPr>
      </p:sp>
      <p:sp>
        <p:nvSpPr>
          <p:cNvPr id="11" name="Text 9"/>
          <p:cNvSpPr/>
          <p:nvPr/>
        </p:nvSpPr>
        <p:spPr>
          <a:xfrm>
            <a:off x="4864608" y="1783080"/>
            <a:ext cx="1691640" cy="411480"/>
          </a:xfrm>
          <a:prstGeom prst="rect">
            <a:avLst/>
          </a:prstGeom>
          <a:noFill/>
          <a:ln/>
        </p:spPr>
        <p:txBody>
          <a:bodyPr wrap="square" rtlCol="0" anchor="ctr"/>
          <a:lstStyle/>
          <a:p>
            <a:pPr indent="0" marL="0">
              <a:buNone/>
            </a:pPr>
            <a:r>
              <a:rPr lang="en-US" sz="2200" b="1" dirty="0">
                <a:solidFill>
                  <a:srgbClr val="19D6C5"/>
                </a:solidFill>
                <a:latin typeface="Arial" pitchFamily="34" charset="0"/>
                <a:ea typeface="Arial" pitchFamily="34" charset="-122"/>
                <a:cs typeface="Arial" pitchFamily="34" charset="-120"/>
              </a:rPr>
              <a:t>100%</a:t>
            </a:r>
            <a:endParaRPr lang="en-US" sz="2200" dirty="0"/>
          </a:p>
        </p:txBody>
      </p:sp>
      <p:sp>
        <p:nvSpPr>
          <p:cNvPr id="12" name="Text 10"/>
          <p:cNvSpPr/>
          <p:nvPr/>
        </p:nvSpPr>
        <p:spPr>
          <a:xfrm>
            <a:off x="4864608" y="2240280"/>
            <a:ext cx="1691640" cy="685800"/>
          </a:xfrm>
          <a:prstGeom prst="rect">
            <a:avLst/>
          </a:prstGeom>
          <a:noFill/>
          <a:ln/>
        </p:spPr>
        <p:txBody>
          <a:bodyPr wrap="square" rtlCol="0" anchor="t"/>
          <a:lstStyle/>
          <a:p>
            <a:pPr indent="0" marL="0">
              <a:buNone/>
            </a:pPr>
            <a:r>
              <a:rPr lang="en-US" sz="1000" dirty="0">
                <a:solidFill>
                  <a:srgbClr val="BAC6CE"/>
                </a:solidFill>
                <a:latin typeface="Arial" pitchFamily="34" charset="0"/>
                <a:ea typeface="Arial" pitchFamily="34" charset="-122"/>
                <a:cs typeface="Arial" pitchFamily="34" charset="-120"/>
              </a:rPr>
              <a:t>SLA breaches escalate — a miss is an incident</a:t>
            </a:r>
            <a:endParaRPr lang="en-US" sz="1000" dirty="0"/>
          </a:p>
        </p:txBody>
      </p:sp>
      <p:sp>
        <p:nvSpPr>
          <p:cNvPr id="13" name="Shape 11"/>
          <p:cNvSpPr/>
          <p:nvPr/>
        </p:nvSpPr>
        <p:spPr>
          <a:xfrm>
            <a:off x="6839712" y="1691640"/>
            <a:ext cx="1965960" cy="1325880"/>
          </a:xfrm>
          <a:prstGeom prst="roundRect">
            <a:avLst>
              <a:gd name="adj" fmla="val 3448"/>
            </a:avLst>
          </a:prstGeom>
          <a:solidFill>
            <a:srgbClr val="151B23"/>
          </a:solidFill>
          <a:ln w="9525">
            <a:solidFill>
              <a:srgbClr val="2A333D"/>
            </a:solidFill>
            <a:prstDash val="solid"/>
          </a:ln>
        </p:spPr>
      </p:sp>
      <p:sp>
        <p:nvSpPr>
          <p:cNvPr id="14" name="Text 12"/>
          <p:cNvSpPr/>
          <p:nvPr/>
        </p:nvSpPr>
        <p:spPr>
          <a:xfrm>
            <a:off x="6976872" y="1783080"/>
            <a:ext cx="1691640" cy="411480"/>
          </a:xfrm>
          <a:prstGeom prst="rect">
            <a:avLst/>
          </a:prstGeom>
          <a:noFill/>
          <a:ln/>
        </p:spPr>
        <p:txBody>
          <a:bodyPr wrap="square" rtlCol="0" anchor="ctr"/>
          <a:lstStyle/>
          <a:p>
            <a:pPr indent="0" marL="0">
              <a:buNone/>
            </a:pPr>
            <a:r>
              <a:rPr lang="en-US" sz="2200" b="1" dirty="0">
                <a:solidFill>
                  <a:srgbClr val="19D6C5"/>
                </a:solidFill>
                <a:latin typeface="Arial" pitchFamily="34" charset="0"/>
                <a:ea typeface="Arial" pitchFamily="34" charset="-122"/>
                <a:cs typeface="Arial" pitchFamily="34" charset="-120"/>
              </a:rPr>
              <a:t>0</a:t>
            </a:r>
            <a:endParaRPr lang="en-US" sz="2200" dirty="0"/>
          </a:p>
        </p:txBody>
      </p:sp>
      <p:sp>
        <p:nvSpPr>
          <p:cNvPr id="15" name="Text 13"/>
          <p:cNvSpPr/>
          <p:nvPr/>
        </p:nvSpPr>
        <p:spPr>
          <a:xfrm>
            <a:off x="6976872" y="2240280"/>
            <a:ext cx="1691640" cy="685800"/>
          </a:xfrm>
          <a:prstGeom prst="rect">
            <a:avLst/>
          </a:prstGeom>
          <a:noFill/>
          <a:ln/>
        </p:spPr>
        <p:txBody>
          <a:bodyPr wrap="square" rtlCol="0" anchor="t"/>
          <a:lstStyle/>
          <a:p>
            <a:pPr indent="0" marL="0">
              <a:buNone/>
            </a:pPr>
            <a:r>
              <a:rPr lang="en-US" sz="1000" dirty="0">
                <a:solidFill>
                  <a:srgbClr val="BAC6CE"/>
                </a:solidFill>
                <a:latin typeface="Arial" pitchFamily="34" charset="0"/>
                <a:ea typeface="Arial" pitchFamily="34" charset="-122"/>
                <a:cs typeface="Arial" pitchFamily="34" charset="-120"/>
              </a:rPr>
              <a:t>silent changes: every mutation has actor, reason, notice</a:t>
            </a:r>
            <a:endParaRPr lang="en-US" sz="1000" dirty="0"/>
          </a:p>
        </p:txBody>
      </p:sp>
      <p:sp>
        <p:nvSpPr>
          <p:cNvPr id="16" name="Shape 14"/>
          <p:cNvSpPr/>
          <p:nvPr/>
        </p:nvSpPr>
        <p:spPr>
          <a:xfrm>
            <a:off x="502920" y="3291840"/>
            <a:ext cx="8138160" cy="1371600"/>
          </a:xfrm>
          <a:prstGeom prst="roundRect">
            <a:avLst>
              <a:gd name="adj" fmla="val 3333"/>
            </a:avLst>
          </a:prstGeom>
          <a:solidFill>
            <a:srgbClr val="1B232C"/>
          </a:solidFill>
          <a:ln w="9525">
            <a:solidFill>
              <a:srgbClr val="2A333D"/>
            </a:solidFill>
            <a:prstDash val="solid"/>
          </a:ln>
        </p:spPr>
      </p:sp>
      <p:sp>
        <p:nvSpPr>
          <p:cNvPr id="17" name="Text 15"/>
          <p:cNvSpPr/>
          <p:nvPr/>
        </p:nvSpPr>
        <p:spPr>
          <a:xfrm>
            <a:off x="731520" y="3401568"/>
            <a:ext cx="7680960" cy="256032"/>
          </a:xfrm>
          <a:prstGeom prst="rect">
            <a:avLst/>
          </a:prstGeom>
          <a:noFill/>
          <a:ln/>
        </p:spPr>
        <p:txBody>
          <a:bodyPr wrap="square" rtlCol="0" anchor="ctr"/>
          <a:lstStyle/>
          <a:p>
            <a:pPr indent="0" marL="0">
              <a:buNone/>
            </a:pPr>
            <a:r>
              <a:rPr lang="en-US" sz="1100" spc="200" kern="0" dirty="0">
                <a:solidFill>
                  <a:srgbClr val="F2B84B"/>
                </a:solidFill>
                <a:latin typeface="Courier New" pitchFamily="34" charset="0"/>
                <a:ea typeface="Courier New" pitchFamily="34" charset="-122"/>
                <a:cs typeface="Courier New" pitchFamily="34" charset="-120"/>
              </a:rPr>
              <a:t>AI ACTION TIERS — REGISTERED BEFORE TAKEN</a:t>
            </a:r>
            <a:endParaRPr lang="en-US" sz="1100" dirty="0"/>
          </a:p>
        </p:txBody>
      </p:sp>
      <p:sp>
        <p:nvSpPr>
          <p:cNvPr id="18" name="Text 16"/>
          <p:cNvSpPr/>
          <p:nvPr/>
        </p:nvSpPr>
        <p:spPr>
          <a:xfrm>
            <a:off x="731520" y="3730752"/>
            <a:ext cx="7680960" cy="320040"/>
          </a:xfrm>
          <a:prstGeom prst="rect">
            <a:avLst/>
          </a:prstGeom>
          <a:noFill/>
          <a:ln/>
        </p:spPr>
        <p:txBody>
          <a:bodyPr wrap="square" rtlCol="0" anchor="ctr"/>
          <a:lstStyle/>
          <a:p>
            <a:pPr indent="0" marL="0">
              <a:buNone/>
            </a:pPr>
            <a:r>
              <a:rPr lang="en-US" sz="1150" b="1" dirty="0">
                <a:solidFill>
                  <a:srgbClr val="19D6C5"/>
                </a:solidFill>
                <a:latin typeface="Arial" pitchFamily="34" charset="0"/>
                <a:ea typeface="Arial" pitchFamily="34" charset="-122"/>
                <a:cs typeface="Arial" pitchFamily="34" charset="-120"/>
              </a:rPr>
              <a:t>Tier 0–1 </a:t>
            </a:r>
            <a:pPr indent="0" marL="0">
              <a:buNone/>
            </a:pPr>
            <a:r>
              <a:rPr lang="en-US" sz="1150" dirty="0">
                <a:solidFill>
                  <a:srgbClr val="BAC6CE"/>
                </a:solidFill>
                <a:latin typeface="Arial" pitchFamily="34" charset="0"/>
                <a:ea typeface="Arial" pitchFamily="34" charset="-122"/>
                <a:cs typeface="Arial" pitchFamily="34" charset="-120"/>
              </a:rPr>
              <a:t>read &amp; suggest — automatic, logged    </a:t>
            </a:r>
            <a:pPr indent="0" marL="0">
              <a:buNone/>
            </a:pPr>
            <a:r>
              <a:rPr lang="en-US" sz="1150" b="1" dirty="0">
                <a:solidFill>
                  <a:srgbClr val="19D6C5"/>
                </a:solidFill>
                <a:latin typeface="Arial" pitchFamily="34" charset="0"/>
                <a:ea typeface="Arial" pitchFamily="34" charset="-122"/>
                <a:cs typeface="Arial" pitchFamily="34" charset="-120"/>
              </a:rPr>
              <a:t>Tier 2 </a:t>
            </a:r>
            <a:pPr indent="0" marL="0">
              <a:buNone/>
            </a:pPr>
            <a:r>
              <a:rPr lang="en-US" sz="1150" dirty="0">
                <a:solidFill>
                  <a:srgbClr val="BAC6CE"/>
                </a:solidFill>
                <a:latin typeface="Arial" pitchFamily="34" charset="0"/>
                <a:ea typeface="Arial" pitchFamily="34" charset="-122"/>
                <a:cs typeface="Arial" pitchFamily="34" charset="-120"/>
              </a:rPr>
              <a:t>student nudges — capped, opt-out honored    </a:t>
            </a:r>
            <a:pPr indent="0" marL="0">
              <a:buNone/>
            </a:pPr>
            <a:r>
              <a:rPr lang="en-US" sz="1150" b="1" dirty="0">
                <a:solidFill>
                  <a:srgbClr val="F2B84B"/>
                </a:solidFill>
                <a:latin typeface="Arial" pitchFamily="34" charset="0"/>
                <a:ea typeface="Arial" pitchFamily="34" charset="-122"/>
                <a:cs typeface="Arial" pitchFamily="34" charset="-120"/>
              </a:rPr>
              <a:t>Tier 3 </a:t>
            </a:r>
            <a:pPr indent="0" marL="0">
              <a:buNone/>
            </a:pPr>
            <a:r>
              <a:rPr lang="en-US" sz="1150" dirty="0">
                <a:solidFill>
                  <a:srgbClr val="BAC6CE"/>
                </a:solidFill>
                <a:latin typeface="Arial" pitchFamily="34" charset="0"/>
                <a:ea typeface="Arial" pitchFamily="34" charset="-122"/>
                <a:cs typeface="Arial" pitchFamily="34" charset="-120"/>
              </a:rPr>
              <a:t>consequential — human approves</a:t>
            </a:r>
            <a:endParaRPr lang="en-US" sz="1150" dirty="0"/>
          </a:p>
        </p:txBody>
      </p:sp>
      <p:sp>
        <p:nvSpPr>
          <p:cNvPr id="19" name="Text 17"/>
          <p:cNvSpPr/>
          <p:nvPr/>
        </p:nvSpPr>
        <p:spPr>
          <a:xfrm>
            <a:off x="731520" y="4187952"/>
            <a:ext cx="7680960" cy="365760"/>
          </a:xfrm>
          <a:prstGeom prst="rect">
            <a:avLst/>
          </a:prstGeom>
          <a:noFill/>
          <a:ln/>
        </p:spPr>
        <p:txBody>
          <a:bodyPr wrap="square" rtlCol="0" anchor="ctr"/>
          <a:lstStyle/>
          <a:p>
            <a:pPr indent="0" marL="0">
              <a:buNone/>
            </a:pPr>
            <a:r>
              <a:rPr lang="en-US" sz="1200" b="1" dirty="0">
                <a:solidFill>
                  <a:srgbClr val="FF4FD8"/>
                </a:solidFill>
                <a:latin typeface="Arial" pitchFamily="34" charset="0"/>
                <a:ea typeface="Arial" pitchFamily="34" charset="-122"/>
                <a:cs typeface="Arial" pitchFamily="34" charset="-120"/>
              </a:rPr>
              <a:t>Tier 4 — never automated: </a:t>
            </a:r>
            <a:pPr indent="0" marL="0">
              <a:buNone/>
            </a:pPr>
            <a:r>
              <a:rPr lang="en-US" sz="1200" dirty="0">
                <a:solidFill>
                  <a:srgbClr val="FFFFFF"/>
                </a:solidFill>
                <a:latin typeface="Arial" pitchFamily="34" charset="0"/>
                <a:ea typeface="Arial" pitchFamily="34" charset="-122"/>
                <a:cs typeface="Arial" pitchFamily="34" charset="-120"/>
              </a:rPr>
              <a:t>grades, competency certification, aid decisions, conferral. AI informs; a human decides.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D11"/>
        </a:solidFill>
      </p:bgPr>
    </p:bg>
    <p:spTree>
      <p:nvGrpSpPr>
        <p:cNvPr id="1" name=""/>
        <p:cNvGrpSpPr/>
        <p:nvPr/>
      </p:nvGrpSpPr>
      <p:grpSpPr>
        <a:xfrm>
          <a:off x="0" y="0"/>
          <a:ext cx="0" cy="0"/>
          <a:chOff x="0" y="0"/>
          <a:chExt cx="0" cy="0"/>
        </a:xfrm>
      </p:grpSpPr>
      <p:sp>
        <p:nvSpPr>
          <p:cNvPr id="2" name="Text 0"/>
          <p:cNvSpPr/>
          <p:nvPr/>
        </p:nvSpPr>
        <p:spPr>
          <a:xfrm>
            <a:off x="502920" y="320040"/>
            <a:ext cx="8138160" cy="274320"/>
          </a:xfrm>
          <a:prstGeom prst="rect">
            <a:avLst/>
          </a:prstGeom>
          <a:noFill/>
          <a:ln/>
        </p:spPr>
        <p:txBody>
          <a:bodyPr wrap="square" rtlCol="0" anchor="ctr"/>
          <a:lstStyle/>
          <a:p>
            <a:pPr indent="0" marL="0">
              <a:buNone/>
            </a:pPr>
            <a:r>
              <a:rPr lang="en-US" sz="1100" spc="200" kern="0" dirty="0">
                <a:solidFill>
                  <a:srgbClr val="F2B84B"/>
                </a:solidFill>
                <a:latin typeface="Courier New" pitchFamily="34" charset="0"/>
                <a:ea typeface="Courier New" pitchFamily="34" charset="-122"/>
                <a:cs typeface="Courier New" pitchFamily="34" charset="-120"/>
              </a:rPr>
              <a:t>THE ECONOMICS</a:t>
            </a:r>
            <a:endParaRPr lang="en-US" sz="1100" dirty="0"/>
          </a:p>
        </p:txBody>
      </p:sp>
      <p:sp>
        <p:nvSpPr>
          <p:cNvPr id="3" name="Text 1"/>
          <p:cNvSpPr/>
          <p:nvPr/>
        </p:nvSpPr>
        <p:spPr>
          <a:xfrm>
            <a:off x="502920" y="621792"/>
            <a:ext cx="8138160" cy="77724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The mission and the math point the same direction.</a:t>
            </a:r>
            <a:endParaRPr lang="en-US" sz="3000" dirty="0"/>
          </a:p>
        </p:txBody>
      </p:sp>
      <p:sp>
        <p:nvSpPr>
          <p:cNvPr id="4" name="Shape 2"/>
          <p:cNvSpPr/>
          <p:nvPr/>
        </p:nvSpPr>
        <p:spPr>
          <a:xfrm>
            <a:off x="502920" y="1691640"/>
            <a:ext cx="3977640" cy="2880360"/>
          </a:xfrm>
          <a:prstGeom prst="roundRect">
            <a:avLst>
              <a:gd name="adj" fmla="val 1587"/>
            </a:avLst>
          </a:prstGeom>
          <a:solidFill>
            <a:srgbClr val="151B23"/>
          </a:solidFill>
          <a:ln w="9525">
            <a:solidFill>
              <a:srgbClr val="2A333D"/>
            </a:solidFill>
            <a:prstDash val="solid"/>
          </a:ln>
        </p:spPr>
      </p:sp>
      <p:sp>
        <p:nvSpPr>
          <p:cNvPr id="5" name="Text 3"/>
          <p:cNvSpPr/>
          <p:nvPr/>
        </p:nvSpPr>
        <p:spPr>
          <a:xfrm>
            <a:off x="731520" y="1828800"/>
            <a:ext cx="3566160" cy="3200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1 point of persistence</a:t>
            </a:r>
            <a:endParaRPr lang="en-US" sz="1500" dirty="0"/>
          </a:p>
        </p:txBody>
      </p:sp>
      <p:sp>
        <p:nvSpPr>
          <p:cNvPr id="6" name="Text 4"/>
          <p:cNvSpPr/>
          <p:nvPr/>
        </p:nvSpPr>
        <p:spPr>
          <a:xfrm>
            <a:off x="731520" y="2194560"/>
            <a:ext cx="3566160" cy="594360"/>
          </a:xfrm>
          <a:prstGeom prst="rect">
            <a:avLst/>
          </a:prstGeom>
          <a:noFill/>
          <a:ln/>
        </p:spPr>
        <p:txBody>
          <a:bodyPr wrap="square" rtlCol="0" anchor="ctr"/>
          <a:lstStyle/>
          <a:p>
            <a:pPr indent="0" marL="0">
              <a:buNone/>
            </a:pPr>
            <a:r>
              <a:rPr lang="en-US" sz="3800" b="1" dirty="0">
                <a:solidFill>
                  <a:srgbClr val="19D6C5"/>
                </a:solidFill>
                <a:latin typeface="Arial" pitchFamily="34" charset="0"/>
                <a:ea typeface="Arial" pitchFamily="34" charset="-122"/>
                <a:cs typeface="Arial" pitchFamily="34" charset="-120"/>
              </a:rPr>
              <a:t>≈ 1,900</a:t>
            </a:r>
            <a:endParaRPr lang="en-US" sz="3800" dirty="0"/>
          </a:p>
        </p:txBody>
      </p:sp>
      <p:sp>
        <p:nvSpPr>
          <p:cNvPr id="7" name="Text 5"/>
          <p:cNvSpPr/>
          <p:nvPr/>
        </p:nvSpPr>
        <p:spPr>
          <a:xfrm>
            <a:off x="731520" y="2834640"/>
            <a:ext cx="3566160" cy="320040"/>
          </a:xfrm>
          <a:prstGeom prst="rect">
            <a:avLst/>
          </a:prstGeom>
          <a:noFill/>
          <a:ln/>
        </p:spPr>
        <p:txBody>
          <a:bodyPr wrap="square" rtlCol="0" anchor="ctr"/>
          <a:lstStyle/>
          <a:p>
            <a:pPr indent="0" marL="0">
              <a:buNone/>
            </a:pPr>
            <a:r>
              <a:rPr lang="en-US" sz="1200" dirty="0">
                <a:solidFill>
                  <a:srgbClr val="BAC6CE"/>
                </a:solidFill>
                <a:latin typeface="Arial" pitchFamily="34" charset="0"/>
                <a:ea typeface="Arial" pitchFamily="34" charset="-122"/>
                <a:cs typeface="Arial" pitchFamily="34" charset="-120"/>
              </a:rPr>
              <a:t>students staying on a pathway to opportunity</a:t>
            </a:r>
            <a:endParaRPr lang="en-US" sz="1200" dirty="0"/>
          </a:p>
        </p:txBody>
      </p:sp>
      <p:sp>
        <p:nvSpPr>
          <p:cNvPr id="8" name="Text 6"/>
          <p:cNvSpPr/>
          <p:nvPr/>
        </p:nvSpPr>
        <p:spPr>
          <a:xfrm>
            <a:off x="731520" y="3246120"/>
            <a:ext cx="3566160" cy="594360"/>
          </a:xfrm>
          <a:prstGeom prst="rect">
            <a:avLst/>
          </a:prstGeom>
          <a:noFill/>
          <a:ln/>
        </p:spPr>
        <p:txBody>
          <a:bodyPr wrap="square" rtlCol="0" anchor="ctr"/>
          <a:lstStyle/>
          <a:p>
            <a:pPr indent="0" marL="0">
              <a:buNone/>
            </a:pPr>
            <a:r>
              <a:rPr lang="en-US" sz="3800" b="1" dirty="0">
                <a:solidFill>
                  <a:srgbClr val="F2B84B"/>
                </a:solidFill>
                <a:latin typeface="Arial" pitchFamily="34" charset="0"/>
                <a:ea typeface="Arial" pitchFamily="34" charset="-122"/>
                <a:cs typeface="Arial" pitchFamily="34" charset="-120"/>
              </a:rPr>
              <a:t>≈ $15M / yr</a:t>
            </a:r>
            <a:endParaRPr lang="en-US" sz="3800" dirty="0"/>
          </a:p>
        </p:txBody>
      </p:sp>
      <p:sp>
        <p:nvSpPr>
          <p:cNvPr id="9" name="Text 7"/>
          <p:cNvSpPr/>
          <p:nvPr/>
        </p:nvSpPr>
        <p:spPr>
          <a:xfrm>
            <a:off x="731520" y="3886200"/>
            <a:ext cx="3566160" cy="320040"/>
          </a:xfrm>
          <a:prstGeom prst="rect">
            <a:avLst/>
          </a:prstGeom>
          <a:noFill/>
          <a:ln/>
        </p:spPr>
        <p:txBody>
          <a:bodyPr wrap="square" rtlCol="0" anchor="ctr"/>
          <a:lstStyle/>
          <a:p>
            <a:pPr indent="0" marL="0">
              <a:buNone/>
            </a:pPr>
            <a:r>
              <a:rPr lang="en-US" sz="1200" dirty="0">
                <a:solidFill>
                  <a:srgbClr val="BAC6CE"/>
                </a:solidFill>
                <a:latin typeface="Arial" pitchFamily="34" charset="0"/>
                <a:ea typeface="Arial" pitchFamily="34" charset="-122"/>
                <a:cs typeface="Arial" pitchFamily="34" charset="-120"/>
              </a:rPr>
              <a:t>in continued tuition — every year, per point</a:t>
            </a:r>
            <a:endParaRPr lang="en-US" sz="1200" dirty="0"/>
          </a:p>
        </p:txBody>
      </p:sp>
      <p:sp>
        <p:nvSpPr>
          <p:cNvPr id="10" name="Shape 8"/>
          <p:cNvSpPr/>
          <p:nvPr/>
        </p:nvSpPr>
        <p:spPr>
          <a:xfrm>
            <a:off x="4663440" y="1691640"/>
            <a:ext cx="3977640" cy="658368"/>
          </a:xfrm>
          <a:prstGeom prst="roundRect">
            <a:avLst>
              <a:gd name="adj" fmla="val 6944"/>
            </a:avLst>
          </a:prstGeom>
          <a:solidFill>
            <a:srgbClr val="151B23"/>
          </a:solidFill>
          <a:ln w="9525">
            <a:solidFill>
              <a:srgbClr val="2A333D"/>
            </a:solidFill>
            <a:prstDash val="solid"/>
          </a:ln>
        </p:spPr>
      </p:sp>
      <p:sp>
        <p:nvSpPr>
          <p:cNvPr id="11" name="Text 9"/>
          <p:cNvSpPr/>
          <p:nvPr/>
        </p:nvSpPr>
        <p:spPr>
          <a:xfrm>
            <a:off x="4864608" y="1746504"/>
            <a:ext cx="3611880" cy="548640"/>
          </a:xfrm>
          <a:prstGeom prst="rect">
            <a:avLst/>
          </a:prstGeom>
          <a:noFill/>
          <a:ln/>
        </p:spPr>
        <p:txBody>
          <a:bodyPr wrap="square" rtlCol="0" anchor="t"/>
          <a:lstStyle/>
          <a:p>
            <a:pPr indent="0" marL="0">
              <a:buNone/>
            </a:pPr>
            <a:r>
              <a:rPr lang="en-US" sz="1250" b="1" dirty="0">
                <a:solidFill>
                  <a:srgbClr val="FFFFFF"/>
                </a:solidFill>
                <a:latin typeface="Arial" pitchFamily="34" charset="0"/>
                <a:ea typeface="Arial" pitchFamily="34" charset="-122"/>
                <a:cs typeface="Arial" pitchFamily="34" charset="-120"/>
              </a:rPr>
              <a:t>Fund slices, not programs
</a:t>
            </a:r>
            <a:pPr indent="0" marL="0">
              <a:buNone/>
            </a:pPr>
            <a:r>
              <a:rPr lang="en-US" sz="1050" dirty="0">
                <a:solidFill>
                  <a:srgbClr val="BAC6CE"/>
                </a:solidFill>
                <a:latin typeface="Arial" pitchFamily="34" charset="0"/>
                <a:ea typeface="Arial" pitchFamily="34" charset="-122"/>
                <a:cs typeface="Arial" pitchFamily="34" charset="-120"/>
              </a:rPr>
              <a:t>no nine-figure ask — each slice separately funded, measured, survivable</a:t>
            </a:r>
            <a:endParaRPr lang="en-US" sz="1250" dirty="0"/>
          </a:p>
        </p:txBody>
      </p:sp>
      <p:sp>
        <p:nvSpPr>
          <p:cNvPr id="12" name="Shape 10"/>
          <p:cNvSpPr/>
          <p:nvPr/>
        </p:nvSpPr>
        <p:spPr>
          <a:xfrm>
            <a:off x="4663440" y="2441448"/>
            <a:ext cx="3977640" cy="658368"/>
          </a:xfrm>
          <a:prstGeom prst="roundRect">
            <a:avLst>
              <a:gd name="adj" fmla="val 6944"/>
            </a:avLst>
          </a:prstGeom>
          <a:solidFill>
            <a:srgbClr val="151B23"/>
          </a:solidFill>
          <a:ln w="9525">
            <a:solidFill>
              <a:srgbClr val="2A333D"/>
            </a:solidFill>
            <a:prstDash val="solid"/>
          </a:ln>
        </p:spPr>
      </p:sp>
      <p:sp>
        <p:nvSpPr>
          <p:cNvPr id="13" name="Text 11"/>
          <p:cNvSpPr/>
          <p:nvPr/>
        </p:nvSpPr>
        <p:spPr>
          <a:xfrm>
            <a:off x="4864608" y="2496312"/>
            <a:ext cx="3611880" cy="548640"/>
          </a:xfrm>
          <a:prstGeom prst="rect">
            <a:avLst/>
          </a:prstGeom>
          <a:noFill/>
          <a:ln/>
        </p:spPr>
        <p:txBody>
          <a:bodyPr wrap="square" rtlCol="0" anchor="t"/>
          <a:lstStyle/>
          <a:p>
            <a:pPr indent="0" marL="0">
              <a:buNone/>
            </a:pPr>
            <a:r>
              <a:rPr lang="en-US" sz="1250" b="1" dirty="0">
                <a:solidFill>
                  <a:srgbClr val="FFFFFF"/>
                </a:solidFill>
                <a:latin typeface="Arial" pitchFamily="34" charset="0"/>
                <a:ea typeface="Arial" pitchFamily="34" charset="-122"/>
                <a:cs typeface="Arial" pitchFamily="34" charset="-120"/>
              </a:rPr>
              <a:t>Attribution via holdouts
</a:t>
            </a:r>
            <a:pPr indent="0" marL="0">
              <a:buNone/>
            </a:pPr>
            <a:r>
              <a:rPr lang="en-US" sz="1050" dirty="0">
                <a:solidFill>
                  <a:srgbClr val="BAC6CE"/>
                </a:solidFill>
                <a:latin typeface="Arial" pitchFamily="34" charset="0"/>
                <a:ea typeface="Arial" pitchFamily="34" charset="-122"/>
                <a:cs typeface="Arial" pitchFamily="34" charset="-120"/>
              </a:rPr>
              <a:t>returns proven against a counterfactual, never borrowed from trends</a:t>
            </a:r>
            <a:endParaRPr lang="en-US" sz="1250" dirty="0"/>
          </a:p>
        </p:txBody>
      </p:sp>
      <p:sp>
        <p:nvSpPr>
          <p:cNvPr id="14" name="Shape 12"/>
          <p:cNvSpPr/>
          <p:nvPr/>
        </p:nvSpPr>
        <p:spPr>
          <a:xfrm>
            <a:off x="4663440" y="3191256"/>
            <a:ext cx="3977640" cy="658368"/>
          </a:xfrm>
          <a:prstGeom prst="roundRect">
            <a:avLst>
              <a:gd name="adj" fmla="val 6944"/>
            </a:avLst>
          </a:prstGeom>
          <a:solidFill>
            <a:srgbClr val="151B23"/>
          </a:solidFill>
          <a:ln w="9525">
            <a:solidFill>
              <a:srgbClr val="2A333D"/>
            </a:solidFill>
            <a:prstDash val="solid"/>
          </a:ln>
        </p:spPr>
      </p:sp>
      <p:sp>
        <p:nvSpPr>
          <p:cNvPr id="15" name="Text 13"/>
          <p:cNvSpPr/>
          <p:nvPr/>
        </p:nvSpPr>
        <p:spPr>
          <a:xfrm>
            <a:off x="4864608" y="3246120"/>
            <a:ext cx="3611880" cy="548640"/>
          </a:xfrm>
          <a:prstGeom prst="rect">
            <a:avLst/>
          </a:prstGeom>
          <a:noFill/>
          <a:ln/>
        </p:spPr>
        <p:txBody>
          <a:bodyPr wrap="square" rtlCol="0" anchor="t"/>
          <a:lstStyle/>
          <a:p>
            <a:pPr indent="0" marL="0">
              <a:buNone/>
            </a:pPr>
            <a:r>
              <a:rPr lang="en-US" sz="1250" b="1" dirty="0">
                <a:solidFill>
                  <a:srgbClr val="FFFFFF"/>
                </a:solidFill>
                <a:latin typeface="Arial" pitchFamily="34" charset="0"/>
                <a:ea typeface="Arial" pitchFamily="34" charset="-122"/>
                <a:cs typeface="Arial" pitchFamily="34" charset="-120"/>
              </a:rPr>
              <a:t>Slice 1 pays for itself
</a:t>
            </a:r>
            <a:pPr indent="0" marL="0">
              <a:buNone/>
            </a:pPr>
            <a:r>
              <a:rPr lang="en-US" sz="1050" dirty="0">
                <a:solidFill>
                  <a:srgbClr val="BAC6CE"/>
                </a:solidFill>
                <a:latin typeface="Arial" pitchFamily="34" charset="0"/>
                <a:ea typeface="Arial" pitchFamily="34" charset="-122"/>
                <a:cs typeface="Arial" pitchFamily="34" charset="-120"/>
              </a:rPr>
              <a:t>in contact-center math alone; the persistence effect is upside</a:t>
            </a:r>
            <a:endParaRPr lang="en-US" sz="1250" dirty="0"/>
          </a:p>
        </p:txBody>
      </p:sp>
      <p:sp>
        <p:nvSpPr>
          <p:cNvPr id="16" name="Shape 14"/>
          <p:cNvSpPr/>
          <p:nvPr/>
        </p:nvSpPr>
        <p:spPr>
          <a:xfrm>
            <a:off x="4663440" y="3941064"/>
            <a:ext cx="3977640" cy="658368"/>
          </a:xfrm>
          <a:prstGeom prst="roundRect">
            <a:avLst>
              <a:gd name="adj" fmla="val 6944"/>
            </a:avLst>
          </a:prstGeom>
          <a:solidFill>
            <a:srgbClr val="151B23"/>
          </a:solidFill>
          <a:ln w="9525">
            <a:solidFill>
              <a:srgbClr val="2A333D"/>
            </a:solidFill>
            <a:prstDash val="solid"/>
          </a:ln>
        </p:spPr>
      </p:sp>
      <p:sp>
        <p:nvSpPr>
          <p:cNvPr id="17" name="Text 15"/>
          <p:cNvSpPr/>
          <p:nvPr/>
        </p:nvSpPr>
        <p:spPr>
          <a:xfrm>
            <a:off x="4864608" y="3995928"/>
            <a:ext cx="3611880" cy="548640"/>
          </a:xfrm>
          <a:prstGeom prst="rect">
            <a:avLst/>
          </a:prstGeom>
          <a:noFill/>
          <a:ln/>
        </p:spPr>
        <p:txBody>
          <a:bodyPr wrap="square" rtlCol="0" anchor="t"/>
          <a:lstStyle/>
          <a:p>
            <a:pPr indent="0" marL="0">
              <a:buNone/>
            </a:pPr>
            <a:r>
              <a:rPr lang="en-US" sz="1250" b="1" dirty="0">
                <a:solidFill>
                  <a:srgbClr val="FFFFFF"/>
                </a:solidFill>
                <a:latin typeface="Arial" pitchFamily="34" charset="0"/>
                <a:ea typeface="Arial" pitchFamily="34" charset="-122"/>
                <a:cs typeface="Arial" pitchFamily="34" charset="-120"/>
              </a:rPr>
              <a:t>Unit cost is a Key Result
</a:t>
            </a:r>
            <a:pPr indent="0" marL="0">
              <a:buNone/>
            </a:pPr>
            <a:r>
              <a:rPr lang="en-US" sz="1050" dirty="0">
                <a:solidFill>
                  <a:srgbClr val="BAC6CE"/>
                </a:solidFill>
                <a:latin typeface="Arial" pitchFamily="34" charset="0"/>
                <a:ea typeface="Arial" pitchFamily="34" charset="-122"/>
                <a:cs typeface="Arial" pitchFamily="34" charset="-120"/>
              </a:rPr>
              <a:t>platform $/student/term reviewed beside persistence and completion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D11"/>
        </a:solidFill>
      </p:bgPr>
    </p:bg>
    <p:spTree>
      <p:nvGrpSpPr>
        <p:cNvPr id="1" name=""/>
        <p:cNvGrpSpPr/>
        <p:nvPr/>
      </p:nvGrpSpPr>
      <p:grpSpPr>
        <a:xfrm>
          <a:off x="0" y="0"/>
          <a:ext cx="0" cy="0"/>
          <a:chOff x="0" y="0"/>
          <a:chExt cx="0" cy="0"/>
        </a:xfrm>
      </p:grpSpPr>
      <p:sp>
        <p:nvSpPr>
          <p:cNvPr id="2" name="Text 0"/>
          <p:cNvSpPr/>
          <p:nvPr/>
        </p:nvSpPr>
        <p:spPr>
          <a:xfrm>
            <a:off x="502920" y="320040"/>
            <a:ext cx="8138160" cy="274320"/>
          </a:xfrm>
          <a:prstGeom prst="rect">
            <a:avLst/>
          </a:prstGeom>
          <a:noFill/>
          <a:ln/>
        </p:spPr>
        <p:txBody>
          <a:bodyPr wrap="square" rtlCol="0" anchor="ctr"/>
          <a:lstStyle/>
          <a:p>
            <a:pPr indent="0" marL="0">
              <a:buNone/>
            </a:pPr>
            <a:r>
              <a:rPr lang="en-US" sz="1100" spc="200" kern="0" dirty="0">
                <a:solidFill>
                  <a:srgbClr val="19D6C5"/>
                </a:solidFill>
                <a:latin typeface="Courier New" pitchFamily="34" charset="0"/>
                <a:ea typeface="Courier New" pitchFamily="34" charset="-122"/>
                <a:cs typeface="Courier New" pitchFamily="34" charset="-120"/>
              </a:rPr>
              <a:t>THE PLAN · LISTEN FIRST, PROVE FAST</a:t>
            </a:r>
            <a:endParaRPr lang="en-US" sz="1100" dirty="0"/>
          </a:p>
        </p:txBody>
      </p:sp>
      <p:sp>
        <p:nvSpPr>
          <p:cNvPr id="3" name="Text 1"/>
          <p:cNvSpPr/>
          <p:nvPr/>
        </p:nvSpPr>
        <p:spPr>
          <a:xfrm>
            <a:off x="502920" y="621792"/>
            <a:ext cx="8138160" cy="77724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Ninety days to a working proof. Cohorts, not big bangs.</a:t>
            </a:r>
            <a:endParaRPr lang="en-US" sz="3000" dirty="0"/>
          </a:p>
        </p:txBody>
      </p:sp>
      <p:sp>
        <p:nvSpPr>
          <p:cNvPr id="4" name="Shape 2"/>
          <p:cNvSpPr/>
          <p:nvPr/>
        </p:nvSpPr>
        <p:spPr>
          <a:xfrm>
            <a:off x="502920" y="1691640"/>
            <a:ext cx="2651760" cy="1920240"/>
          </a:xfrm>
          <a:prstGeom prst="roundRect">
            <a:avLst>
              <a:gd name="adj" fmla="val 2381"/>
            </a:avLst>
          </a:prstGeom>
          <a:solidFill>
            <a:srgbClr val="151B23"/>
          </a:solidFill>
          <a:ln w="9525">
            <a:solidFill>
              <a:srgbClr val="2A333D"/>
            </a:solidFill>
            <a:prstDash val="solid"/>
          </a:ln>
        </p:spPr>
      </p:sp>
      <p:sp>
        <p:nvSpPr>
          <p:cNvPr id="5" name="Text 3"/>
          <p:cNvSpPr/>
          <p:nvPr/>
        </p:nvSpPr>
        <p:spPr>
          <a:xfrm>
            <a:off x="685800" y="1828800"/>
            <a:ext cx="2286000" cy="274320"/>
          </a:xfrm>
          <a:prstGeom prst="rect">
            <a:avLst/>
          </a:prstGeom>
          <a:noFill/>
          <a:ln/>
        </p:spPr>
        <p:txBody>
          <a:bodyPr wrap="square" rtlCol="0" anchor="ctr"/>
          <a:lstStyle/>
          <a:p>
            <a:pPr indent="0" marL="0">
              <a:buNone/>
            </a:pPr>
            <a:r>
              <a:rPr lang="en-US" sz="1100" b="1" dirty="0">
                <a:solidFill>
                  <a:srgbClr val="F2B84B"/>
                </a:solidFill>
                <a:latin typeface="Courier New" pitchFamily="34" charset="0"/>
                <a:ea typeface="Courier New" pitchFamily="34" charset="-122"/>
                <a:cs typeface="Courier New" pitchFamily="34" charset="-120"/>
              </a:rPr>
              <a:t>Jul 20 – Aug 18</a:t>
            </a:r>
            <a:endParaRPr lang="en-US" sz="1100" dirty="0"/>
          </a:p>
        </p:txBody>
      </p:sp>
      <p:sp>
        <p:nvSpPr>
          <p:cNvPr id="6" name="Text 4"/>
          <p:cNvSpPr/>
          <p:nvPr/>
        </p:nvSpPr>
        <p:spPr>
          <a:xfrm>
            <a:off x="685800" y="2148840"/>
            <a:ext cx="2286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Listen &amp; Diagnose</a:t>
            </a:r>
            <a:endParaRPr lang="en-US" sz="1600" dirty="0"/>
          </a:p>
        </p:txBody>
      </p:sp>
      <p:sp>
        <p:nvSpPr>
          <p:cNvPr id="7" name="Text 5"/>
          <p:cNvSpPr/>
          <p:nvPr/>
        </p:nvSpPr>
        <p:spPr>
          <a:xfrm>
            <a:off x="685800" y="2514600"/>
            <a:ext cx="2286000" cy="1005840"/>
          </a:xfrm>
          <a:prstGeom prst="rect">
            <a:avLst/>
          </a:prstGeom>
          <a:noFill/>
          <a:ln/>
        </p:spPr>
        <p:txBody>
          <a:bodyPr wrap="square" rtlCol="0" anchor="t"/>
          <a:lstStyle/>
          <a:p>
            <a:pPr indent="0" marL="0">
              <a:buNone/>
            </a:pPr>
            <a:r>
              <a:rPr lang="en-US" sz="1050" dirty="0">
                <a:solidFill>
                  <a:srgbClr val="BAC6CE"/>
                </a:solidFill>
                <a:latin typeface="Arial" pitchFamily="34" charset="0"/>
                <a:ea typeface="Arial" pitchFamily="34" charset="-122"/>
                <a:cs typeface="Arial" pitchFamily="34" charset="-120"/>
              </a:rPr>
              <a:t>1:1s, journey traces, the seam audit: did failures run through the CRM, around it, or die between systems?</a:t>
            </a:r>
            <a:endParaRPr lang="en-US" sz="1050" dirty="0"/>
          </a:p>
        </p:txBody>
      </p:sp>
      <p:sp>
        <p:nvSpPr>
          <p:cNvPr id="8" name="Shape 6"/>
          <p:cNvSpPr/>
          <p:nvPr/>
        </p:nvSpPr>
        <p:spPr>
          <a:xfrm>
            <a:off x="3291840" y="1691640"/>
            <a:ext cx="2651760" cy="1920240"/>
          </a:xfrm>
          <a:prstGeom prst="roundRect">
            <a:avLst>
              <a:gd name="adj" fmla="val 2381"/>
            </a:avLst>
          </a:prstGeom>
          <a:solidFill>
            <a:srgbClr val="151B23"/>
          </a:solidFill>
          <a:ln w="9525">
            <a:solidFill>
              <a:srgbClr val="2A333D"/>
            </a:solidFill>
            <a:prstDash val="solid"/>
          </a:ln>
        </p:spPr>
      </p:sp>
      <p:sp>
        <p:nvSpPr>
          <p:cNvPr id="9" name="Text 7"/>
          <p:cNvSpPr/>
          <p:nvPr/>
        </p:nvSpPr>
        <p:spPr>
          <a:xfrm>
            <a:off x="3474720" y="1828800"/>
            <a:ext cx="2286000" cy="274320"/>
          </a:xfrm>
          <a:prstGeom prst="rect">
            <a:avLst/>
          </a:prstGeom>
          <a:noFill/>
          <a:ln/>
        </p:spPr>
        <p:txBody>
          <a:bodyPr wrap="square" rtlCol="0" anchor="ctr"/>
          <a:lstStyle/>
          <a:p>
            <a:pPr indent="0" marL="0">
              <a:buNone/>
            </a:pPr>
            <a:r>
              <a:rPr lang="en-US" sz="1100" b="1" dirty="0">
                <a:solidFill>
                  <a:srgbClr val="F2B84B"/>
                </a:solidFill>
                <a:latin typeface="Courier New" pitchFamily="34" charset="0"/>
                <a:ea typeface="Courier New" pitchFamily="34" charset="-122"/>
                <a:cs typeface="Courier New" pitchFamily="34" charset="-120"/>
              </a:rPr>
              <a:t>Aug 19 – Sep 17</a:t>
            </a:r>
            <a:endParaRPr lang="en-US" sz="1100" dirty="0"/>
          </a:p>
        </p:txBody>
      </p:sp>
      <p:sp>
        <p:nvSpPr>
          <p:cNvPr id="10" name="Text 8"/>
          <p:cNvSpPr/>
          <p:nvPr/>
        </p:nvSpPr>
        <p:spPr>
          <a:xfrm>
            <a:off x="3474720" y="2148840"/>
            <a:ext cx="2286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Frame &amp; Align</a:t>
            </a:r>
            <a:endParaRPr lang="en-US" sz="1600" dirty="0"/>
          </a:p>
        </p:txBody>
      </p:sp>
      <p:sp>
        <p:nvSpPr>
          <p:cNvPr id="11" name="Text 9"/>
          <p:cNvSpPr/>
          <p:nvPr/>
        </p:nvSpPr>
        <p:spPr>
          <a:xfrm>
            <a:off x="3474720" y="2514600"/>
            <a:ext cx="2286000" cy="1005840"/>
          </a:xfrm>
          <a:prstGeom prst="rect">
            <a:avLst/>
          </a:prstGeom>
          <a:noFill/>
          <a:ln/>
        </p:spPr>
        <p:txBody>
          <a:bodyPr wrap="square" rtlCol="0" anchor="t"/>
          <a:lstStyle/>
          <a:p>
            <a:pPr indent="0" marL="0">
              <a:buNone/>
            </a:pPr>
            <a:r>
              <a:rPr lang="en-US" sz="1050" dirty="0">
                <a:solidFill>
                  <a:srgbClr val="BAC6CE"/>
                </a:solidFill>
                <a:latin typeface="Arial" pitchFamily="34" charset="0"/>
                <a:ea typeface="Arial" pitchFamily="34" charset="-122"/>
                <a:cs typeface="Arial" pitchFamily="34" charset="-120"/>
              </a:rPr>
              <a:t>team ratifies the guardrails; target + ADRs pressure-tested against reality; first thread chosen</a:t>
            </a:r>
            <a:endParaRPr lang="en-US" sz="1050" dirty="0"/>
          </a:p>
        </p:txBody>
      </p:sp>
      <p:sp>
        <p:nvSpPr>
          <p:cNvPr id="12" name="Shape 10"/>
          <p:cNvSpPr/>
          <p:nvPr/>
        </p:nvSpPr>
        <p:spPr>
          <a:xfrm>
            <a:off x="6080760" y="1691640"/>
            <a:ext cx="2651760" cy="1920240"/>
          </a:xfrm>
          <a:prstGeom prst="roundRect">
            <a:avLst>
              <a:gd name="adj" fmla="val 2381"/>
            </a:avLst>
          </a:prstGeom>
          <a:solidFill>
            <a:srgbClr val="151B23"/>
          </a:solidFill>
          <a:ln w="9525">
            <a:solidFill>
              <a:srgbClr val="2A333D"/>
            </a:solidFill>
            <a:prstDash val="solid"/>
          </a:ln>
        </p:spPr>
      </p:sp>
      <p:sp>
        <p:nvSpPr>
          <p:cNvPr id="13" name="Text 11"/>
          <p:cNvSpPr/>
          <p:nvPr/>
        </p:nvSpPr>
        <p:spPr>
          <a:xfrm>
            <a:off x="6263640" y="1828800"/>
            <a:ext cx="2286000" cy="274320"/>
          </a:xfrm>
          <a:prstGeom prst="rect">
            <a:avLst/>
          </a:prstGeom>
          <a:noFill/>
          <a:ln/>
        </p:spPr>
        <p:txBody>
          <a:bodyPr wrap="square" rtlCol="0" anchor="ctr"/>
          <a:lstStyle/>
          <a:p>
            <a:pPr indent="0" marL="0">
              <a:buNone/>
            </a:pPr>
            <a:r>
              <a:rPr lang="en-US" sz="1100" b="1" dirty="0">
                <a:solidFill>
                  <a:srgbClr val="F2B84B"/>
                </a:solidFill>
                <a:latin typeface="Courier New" pitchFamily="34" charset="0"/>
                <a:ea typeface="Courier New" pitchFamily="34" charset="-122"/>
                <a:cs typeface="Courier New" pitchFamily="34" charset="-120"/>
              </a:rPr>
              <a:t>Sep 18 – Oct 17</a:t>
            </a:r>
            <a:endParaRPr lang="en-US" sz="1100" dirty="0"/>
          </a:p>
        </p:txBody>
      </p:sp>
      <p:sp>
        <p:nvSpPr>
          <p:cNvPr id="14" name="Text 12"/>
          <p:cNvSpPr/>
          <p:nvPr/>
        </p:nvSpPr>
        <p:spPr>
          <a:xfrm>
            <a:off x="6263640" y="2148840"/>
            <a:ext cx="228600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Prove &amp; Sequence</a:t>
            </a:r>
            <a:endParaRPr lang="en-US" sz="1600" dirty="0"/>
          </a:p>
        </p:txBody>
      </p:sp>
      <p:sp>
        <p:nvSpPr>
          <p:cNvPr id="15" name="Text 13"/>
          <p:cNvSpPr/>
          <p:nvPr/>
        </p:nvSpPr>
        <p:spPr>
          <a:xfrm>
            <a:off x="6263640" y="2514600"/>
            <a:ext cx="2286000" cy="1005840"/>
          </a:xfrm>
          <a:prstGeom prst="rect">
            <a:avLst/>
          </a:prstGeom>
          <a:noFill/>
          <a:ln/>
        </p:spPr>
        <p:txBody>
          <a:bodyPr wrap="square" rtlCol="0" anchor="t"/>
          <a:lstStyle/>
          <a:p>
            <a:pPr indent="0" marL="0">
              <a:buNone/>
            </a:pPr>
            <a:r>
              <a:rPr lang="en-US" sz="1050" dirty="0">
                <a:solidFill>
                  <a:srgbClr val="BAC6CE"/>
                </a:solidFill>
                <a:latin typeface="Arial" pitchFamily="34" charset="0"/>
                <a:ea typeface="Arial" pitchFamily="34" charset="-122"/>
                <a:cs typeface="Arial" pitchFamily="34" charset="-120"/>
              </a:rPr>
              <a:t>Slice 1 live: document status, visible, owned, escalated — one black hole, provably gone</a:t>
            </a:r>
            <a:endParaRPr lang="en-US" sz="1050" dirty="0"/>
          </a:p>
        </p:txBody>
      </p:sp>
      <p:sp>
        <p:nvSpPr>
          <p:cNvPr id="16" name="Shape 14"/>
          <p:cNvSpPr/>
          <p:nvPr/>
        </p:nvSpPr>
        <p:spPr>
          <a:xfrm>
            <a:off x="502920" y="3840480"/>
            <a:ext cx="8138160" cy="960120"/>
          </a:xfrm>
          <a:prstGeom prst="roundRect">
            <a:avLst>
              <a:gd name="adj" fmla="val 4762"/>
            </a:avLst>
          </a:prstGeom>
          <a:solidFill>
            <a:srgbClr val="1B232C"/>
          </a:solidFill>
          <a:ln w="9525">
            <a:solidFill>
              <a:srgbClr val="2A333D"/>
            </a:solidFill>
            <a:prstDash val="solid"/>
          </a:ln>
        </p:spPr>
      </p:sp>
      <p:sp>
        <p:nvSpPr>
          <p:cNvPr id="17" name="Text 15"/>
          <p:cNvSpPr/>
          <p:nvPr/>
        </p:nvSpPr>
        <p:spPr>
          <a:xfrm>
            <a:off x="731520" y="3950208"/>
            <a:ext cx="7680960" cy="749808"/>
          </a:xfrm>
          <a:prstGeom prst="rect">
            <a:avLst/>
          </a:prstGeom>
          <a:noFill/>
          <a:ln/>
        </p:spPr>
        <p:txBody>
          <a:bodyPr wrap="square" rtlCol="0" anchor="t"/>
          <a:lstStyle/>
          <a:p>
            <a:pPr indent="0" marL="0">
              <a:buNone/>
            </a:pPr>
            <a:r>
              <a:rPr lang="en-US" sz="1200" b="1" dirty="0">
                <a:solidFill>
                  <a:srgbClr val="19D6C5"/>
                </a:solidFill>
                <a:latin typeface="Arial" pitchFamily="34" charset="0"/>
                <a:ea typeface="Arial" pitchFamily="34" charset="-122"/>
                <a:cs typeface="Arial" pitchFamily="34" charset="-120"/>
              </a:rPr>
              <a:t>Then: cohort-based cutover. </a:t>
            </a:r>
            <a:pPr indent="0" marL="0">
              <a:buNone/>
            </a:pPr>
            <a:r>
              <a:rPr lang="en-US" sz="1200" dirty="0">
                <a:solidFill>
                  <a:srgbClr val="BAC6CE"/>
                </a:solidFill>
                <a:latin typeface="Arial" pitchFamily="34" charset="0"/>
                <a:ea typeface="Arial" pitchFamily="34" charset="-122"/>
                <a:cs typeface="Arial" pitchFamily="34" charset="-120"/>
              </a:rPr>
              <a:t>New students start on the new system first; the old estate drains by graduation, never by migration big-bang. The registrar co-owns the records workstream; system-of-record status transfers per domain by explicit, audited cutover.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D11"/>
        </a:solidFill>
      </p:bgPr>
    </p:bg>
    <p:spTree>
      <p:nvGrpSpPr>
        <p:cNvPr id="1" name=""/>
        <p:cNvGrpSpPr/>
        <p:nvPr/>
      </p:nvGrpSpPr>
      <p:grpSpPr>
        <a:xfrm>
          <a:off x="0" y="0"/>
          <a:ext cx="0" cy="0"/>
          <a:chOff x="0" y="0"/>
          <a:chExt cx="0" cy="0"/>
        </a:xfrm>
      </p:grpSpPr>
      <p:sp>
        <p:nvSpPr>
          <p:cNvPr id="2" name="Text 0"/>
          <p:cNvSpPr/>
          <p:nvPr/>
        </p:nvSpPr>
        <p:spPr>
          <a:xfrm>
            <a:off x="502920" y="320040"/>
            <a:ext cx="8138160" cy="274320"/>
          </a:xfrm>
          <a:prstGeom prst="rect">
            <a:avLst/>
          </a:prstGeom>
          <a:noFill/>
          <a:ln/>
        </p:spPr>
        <p:txBody>
          <a:bodyPr wrap="square" rtlCol="0" anchor="ctr"/>
          <a:lstStyle/>
          <a:p>
            <a:pPr indent="0" marL="0">
              <a:buNone/>
            </a:pPr>
            <a:r>
              <a:rPr lang="en-US" sz="1100" spc="200" kern="0" dirty="0">
                <a:solidFill>
                  <a:srgbClr val="19D6C5"/>
                </a:solidFill>
                <a:latin typeface="Courier New" pitchFamily="34" charset="0"/>
                <a:ea typeface="Courier New" pitchFamily="34" charset="-122"/>
                <a:cs typeface="Courier New" pitchFamily="34" charset="-120"/>
              </a:rPr>
              <a:t>THE ASK</a:t>
            </a:r>
            <a:endParaRPr lang="en-US" sz="1100" dirty="0"/>
          </a:p>
        </p:txBody>
      </p:sp>
      <p:sp>
        <p:nvSpPr>
          <p:cNvPr id="3" name="Text 1"/>
          <p:cNvSpPr/>
          <p:nvPr/>
        </p:nvSpPr>
        <p:spPr>
          <a:xfrm>
            <a:off x="502920" y="621792"/>
            <a:ext cx="8138160" cy="77724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One team. One term. One black hole, gone.</a:t>
            </a:r>
            <a:endParaRPr lang="en-US" sz="3200" dirty="0"/>
          </a:p>
        </p:txBody>
      </p:sp>
      <p:sp>
        <p:nvSpPr>
          <p:cNvPr id="4" name="Shape 2"/>
          <p:cNvSpPr/>
          <p:nvPr/>
        </p:nvSpPr>
        <p:spPr>
          <a:xfrm>
            <a:off x="502920" y="1645920"/>
            <a:ext cx="8138160" cy="749808"/>
          </a:xfrm>
          <a:prstGeom prst="roundRect">
            <a:avLst>
              <a:gd name="adj" fmla="val 6098"/>
            </a:avLst>
          </a:prstGeom>
          <a:solidFill>
            <a:srgbClr val="151B23"/>
          </a:solidFill>
          <a:ln w="9525">
            <a:solidFill>
              <a:srgbClr val="2A333D"/>
            </a:solidFill>
            <a:prstDash val="solid"/>
          </a:ln>
        </p:spPr>
      </p:sp>
      <p:sp>
        <p:nvSpPr>
          <p:cNvPr id="5" name="Text 3"/>
          <p:cNvSpPr/>
          <p:nvPr/>
        </p:nvSpPr>
        <p:spPr>
          <a:xfrm>
            <a:off x="777240" y="1792224"/>
            <a:ext cx="457200" cy="457200"/>
          </a:xfrm>
          <a:prstGeom prst="rect">
            <a:avLst/>
          </a:prstGeom>
          <a:noFill/>
          <a:ln/>
        </p:spPr>
        <p:txBody>
          <a:bodyPr wrap="square" rtlCol="0" anchor="ctr"/>
          <a:lstStyle/>
          <a:p>
            <a:pPr indent="0" marL="0">
              <a:buNone/>
            </a:pPr>
            <a:r>
              <a:rPr lang="en-US" sz="2600" b="1" dirty="0">
                <a:solidFill>
                  <a:srgbClr val="19D6C5"/>
                </a:solidFill>
                <a:latin typeface="Arial" pitchFamily="34" charset="0"/>
                <a:ea typeface="Arial" pitchFamily="34" charset="-122"/>
                <a:cs typeface="Arial" pitchFamily="34" charset="-120"/>
              </a:rPr>
              <a:t>1</a:t>
            </a:r>
            <a:endParaRPr lang="en-US" sz="2600" dirty="0"/>
          </a:p>
        </p:txBody>
      </p:sp>
      <p:sp>
        <p:nvSpPr>
          <p:cNvPr id="6" name="Text 4"/>
          <p:cNvSpPr/>
          <p:nvPr/>
        </p:nvSpPr>
        <p:spPr>
          <a:xfrm>
            <a:off x="1417320" y="1719072"/>
            <a:ext cx="6949440" cy="621792"/>
          </a:xfrm>
          <a:prstGeom prst="rect">
            <a:avLst/>
          </a:prstGeom>
          <a:noFill/>
          <a:ln/>
        </p:spPr>
        <p:txBody>
          <a:bodyPr wrap="square" rtlCol="0" anchor="t"/>
          <a:lstStyle/>
          <a:p>
            <a:pPr indent="0" marL="0">
              <a:buNone/>
            </a:pPr>
            <a:r>
              <a:rPr lang="en-US" sz="1400" b="1" dirty="0">
                <a:solidFill>
                  <a:srgbClr val="FFFFFF"/>
                </a:solidFill>
                <a:latin typeface="Arial" pitchFamily="34" charset="0"/>
                <a:ea typeface="Arial" pitchFamily="34" charset="-122"/>
                <a:cs typeface="Arial" pitchFamily="34" charset="-120"/>
              </a:rPr>
              <a:t>Sponsor Slice 1
</a:t>
            </a:r>
            <a:pPr indent="0" marL="0">
              <a:buNone/>
            </a:pPr>
            <a:r>
              <a:rPr lang="en-US" sz="1150" dirty="0">
                <a:solidFill>
                  <a:srgbClr val="BAC6CE"/>
                </a:solidFill>
                <a:latin typeface="Arial" pitchFamily="34" charset="0"/>
                <a:ea typeface="Arial" pitchFamily="34" charset="-122"/>
                <a:cs typeface="Arial" pitchFamily="34" charset="-120"/>
              </a:rPr>
              <a:t>one stream team + platform support for one term, scoped to document intake → student-visible status</a:t>
            </a:r>
            <a:endParaRPr lang="en-US" sz="1400" dirty="0"/>
          </a:p>
        </p:txBody>
      </p:sp>
      <p:sp>
        <p:nvSpPr>
          <p:cNvPr id="7" name="Shape 5"/>
          <p:cNvSpPr/>
          <p:nvPr/>
        </p:nvSpPr>
        <p:spPr>
          <a:xfrm>
            <a:off x="502920" y="2514600"/>
            <a:ext cx="8138160" cy="749808"/>
          </a:xfrm>
          <a:prstGeom prst="roundRect">
            <a:avLst>
              <a:gd name="adj" fmla="val 6098"/>
            </a:avLst>
          </a:prstGeom>
          <a:solidFill>
            <a:srgbClr val="151B23"/>
          </a:solidFill>
          <a:ln w="9525">
            <a:solidFill>
              <a:srgbClr val="2A333D"/>
            </a:solidFill>
            <a:prstDash val="solid"/>
          </a:ln>
        </p:spPr>
      </p:sp>
      <p:sp>
        <p:nvSpPr>
          <p:cNvPr id="8" name="Text 6"/>
          <p:cNvSpPr/>
          <p:nvPr/>
        </p:nvSpPr>
        <p:spPr>
          <a:xfrm>
            <a:off x="777240" y="2660904"/>
            <a:ext cx="457200" cy="457200"/>
          </a:xfrm>
          <a:prstGeom prst="rect">
            <a:avLst/>
          </a:prstGeom>
          <a:noFill/>
          <a:ln/>
        </p:spPr>
        <p:txBody>
          <a:bodyPr wrap="square" rtlCol="0" anchor="ctr"/>
          <a:lstStyle/>
          <a:p>
            <a:pPr indent="0" marL="0">
              <a:buNone/>
            </a:pPr>
            <a:r>
              <a:rPr lang="en-US" sz="2600" b="1" dirty="0">
                <a:solidFill>
                  <a:srgbClr val="19D6C5"/>
                </a:solidFill>
                <a:latin typeface="Arial" pitchFamily="34" charset="0"/>
                <a:ea typeface="Arial" pitchFamily="34" charset="-122"/>
                <a:cs typeface="Arial" pitchFamily="34" charset="-120"/>
              </a:rPr>
              <a:t>2</a:t>
            </a:r>
            <a:endParaRPr lang="en-US" sz="2600" dirty="0"/>
          </a:p>
        </p:txBody>
      </p:sp>
      <p:sp>
        <p:nvSpPr>
          <p:cNvPr id="9" name="Text 7"/>
          <p:cNvSpPr/>
          <p:nvPr/>
        </p:nvSpPr>
        <p:spPr>
          <a:xfrm>
            <a:off x="1417320" y="2587752"/>
            <a:ext cx="6949440" cy="621792"/>
          </a:xfrm>
          <a:prstGeom prst="rect">
            <a:avLst/>
          </a:prstGeom>
          <a:noFill/>
          <a:ln/>
        </p:spPr>
        <p:txBody>
          <a:bodyPr wrap="square" rtlCol="0" anchor="t"/>
          <a:lstStyle/>
          <a:p>
            <a:pPr indent="0" marL="0">
              <a:buNone/>
            </a:pPr>
            <a:r>
              <a:rPr lang="en-US" sz="1400" b="1" dirty="0">
                <a:solidFill>
                  <a:srgbClr val="FFFFFF"/>
                </a:solidFill>
                <a:latin typeface="Arial" pitchFamily="34" charset="0"/>
                <a:ea typeface="Arial" pitchFamily="34" charset="-122"/>
                <a:cs typeface="Arial" pitchFamily="34" charset="-120"/>
              </a:rPr>
              <a:t>Name the owners
</a:t>
            </a:r>
            <a:pPr indent="0" marL="0">
              <a:buNone/>
            </a:pPr>
            <a:r>
              <a:rPr lang="en-US" sz="1150" dirty="0">
                <a:solidFill>
                  <a:srgbClr val="BAC6CE"/>
                </a:solidFill>
                <a:latin typeface="Arial" pitchFamily="34" charset="0"/>
                <a:ea typeface="Arial" pitchFamily="34" charset="-122"/>
                <a:cs typeface="Arial" pitchFamily="34" charset="-120"/>
              </a:rPr>
              <a:t>records workstream co-owner (registrar) and the case-ownership policy: no queue without a name</a:t>
            </a:r>
            <a:endParaRPr lang="en-US" sz="1400" dirty="0"/>
          </a:p>
        </p:txBody>
      </p:sp>
      <p:sp>
        <p:nvSpPr>
          <p:cNvPr id="10" name="Shape 8"/>
          <p:cNvSpPr/>
          <p:nvPr/>
        </p:nvSpPr>
        <p:spPr>
          <a:xfrm>
            <a:off x="502920" y="3383280"/>
            <a:ext cx="8138160" cy="749808"/>
          </a:xfrm>
          <a:prstGeom prst="roundRect">
            <a:avLst>
              <a:gd name="adj" fmla="val 6098"/>
            </a:avLst>
          </a:prstGeom>
          <a:solidFill>
            <a:srgbClr val="151B23"/>
          </a:solidFill>
          <a:ln w="9525">
            <a:solidFill>
              <a:srgbClr val="2A333D"/>
            </a:solidFill>
            <a:prstDash val="solid"/>
          </a:ln>
        </p:spPr>
      </p:sp>
      <p:sp>
        <p:nvSpPr>
          <p:cNvPr id="11" name="Text 9"/>
          <p:cNvSpPr/>
          <p:nvPr/>
        </p:nvSpPr>
        <p:spPr>
          <a:xfrm>
            <a:off x="777240" y="3529584"/>
            <a:ext cx="457200" cy="457200"/>
          </a:xfrm>
          <a:prstGeom prst="rect">
            <a:avLst/>
          </a:prstGeom>
          <a:noFill/>
          <a:ln/>
        </p:spPr>
        <p:txBody>
          <a:bodyPr wrap="square" rtlCol="0" anchor="ctr"/>
          <a:lstStyle/>
          <a:p>
            <a:pPr indent="0" marL="0">
              <a:buNone/>
            </a:pPr>
            <a:r>
              <a:rPr lang="en-US" sz="2600" b="1" dirty="0">
                <a:solidFill>
                  <a:srgbClr val="19D6C5"/>
                </a:solidFill>
                <a:latin typeface="Arial" pitchFamily="34" charset="0"/>
                <a:ea typeface="Arial" pitchFamily="34" charset="-122"/>
                <a:cs typeface="Arial" pitchFamily="34" charset="-120"/>
              </a:rPr>
              <a:t>3</a:t>
            </a:r>
            <a:endParaRPr lang="en-US" sz="2600" dirty="0"/>
          </a:p>
        </p:txBody>
      </p:sp>
      <p:sp>
        <p:nvSpPr>
          <p:cNvPr id="12" name="Text 10"/>
          <p:cNvSpPr/>
          <p:nvPr/>
        </p:nvSpPr>
        <p:spPr>
          <a:xfrm>
            <a:off x="1417320" y="3456432"/>
            <a:ext cx="6949440" cy="621792"/>
          </a:xfrm>
          <a:prstGeom prst="rect">
            <a:avLst/>
          </a:prstGeom>
          <a:noFill/>
          <a:ln/>
        </p:spPr>
        <p:txBody>
          <a:bodyPr wrap="square" rtlCol="0" anchor="t"/>
          <a:lstStyle/>
          <a:p>
            <a:pPr indent="0" marL="0">
              <a:buNone/>
            </a:pPr>
            <a:r>
              <a:rPr lang="en-US" sz="1400" b="1" dirty="0">
                <a:solidFill>
                  <a:srgbClr val="FFFFFF"/>
                </a:solidFill>
                <a:latin typeface="Arial" pitchFamily="34" charset="0"/>
                <a:ea typeface="Arial" pitchFamily="34" charset="-122"/>
                <a:cs typeface="Arial" pitchFamily="34" charset="-120"/>
              </a:rPr>
              <a:t>Hold me to the numbers
</a:t>
            </a:r>
            <a:pPr indent="0" marL="0">
              <a:buNone/>
            </a:pPr>
            <a:r>
              <a:rPr lang="en-US" sz="1150" dirty="0">
                <a:solidFill>
                  <a:srgbClr val="BAC6CE"/>
                </a:solidFill>
                <a:latin typeface="Arial" pitchFamily="34" charset="0"/>
                <a:ea typeface="Arial" pitchFamily="34" charset="-122"/>
                <a:cs typeface="Arial" pitchFamily="34" charset="-120"/>
              </a:rPr>
              <a:t>black-hole rate, silent-change count, login success, case-resolution time — reviewed like Key Results</a:t>
            </a:r>
            <a:endParaRPr lang="en-US" sz="1400" dirty="0"/>
          </a:p>
        </p:txBody>
      </p:sp>
      <p:sp>
        <p:nvSpPr>
          <p:cNvPr id="13" name="Text 11"/>
          <p:cNvSpPr/>
          <p:nvPr/>
        </p:nvSpPr>
        <p:spPr>
          <a:xfrm>
            <a:off x="502920" y="4434840"/>
            <a:ext cx="8138160" cy="365760"/>
          </a:xfrm>
          <a:prstGeom prst="rect">
            <a:avLst/>
          </a:prstGeom>
          <a:noFill/>
          <a:ln/>
        </p:spPr>
        <p:txBody>
          <a:bodyPr wrap="square" rtlCol="0" anchor="ctr"/>
          <a:lstStyle/>
          <a:p>
            <a:pPr indent="0" marL="0">
              <a:buNone/>
            </a:pPr>
            <a:r>
              <a:rPr lang="en-US" sz="1600" i="1" dirty="0">
                <a:solidFill>
                  <a:srgbClr val="19D6C5"/>
                </a:solidFill>
                <a:latin typeface="Arial" pitchFamily="34" charset="0"/>
                <a:ea typeface="Arial" pitchFamily="34" charset="-122"/>
                <a:cs typeface="Arial" pitchFamily="34" charset="-120"/>
              </a:rPr>
              <a:t>Not “is this elegant” — “does this serve the student on the other end of it.”</a:t>
            </a:r>
            <a:endParaRPr lang="en-US" sz="1600" dirty="0"/>
          </a:p>
        </p:txBody>
      </p:sp>
      <p:sp>
        <p:nvSpPr>
          <p:cNvPr id="14" name="Text 12"/>
          <p:cNvSpPr/>
          <p:nvPr/>
        </p:nvSpPr>
        <p:spPr>
          <a:xfrm>
            <a:off x="502920" y="4828032"/>
            <a:ext cx="8138160" cy="237744"/>
          </a:xfrm>
          <a:prstGeom prst="rect">
            <a:avLst/>
          </a:prstGeom>
          <a:noFill/>
          <a:ln/>
        </p:spPr>
        <p:txBody>
          <a:bodyPr wrap="square" rtlCol="0" anchor="ctr"/>
          <a:lstStyle/>
          <a:p>
            <a:pPr indent="0" marL="0">
              <a:buNone/>
            </a:pPr>
            <a:r>
              <a:rPr lang="en-US" sz="1000" dirty="0">
                <a:solidFill>
                  <a:srgbClr val="76838C"/>
                </a:solidFill>
                <a:latin typeface="Courier New" pitchFamily="34" charset="0"/>
                <a:ea typeface="Courier New" pitchFamily="34" charset="-122"/>
                <a:cs typeface="Courier New" pitchFamily="34" charset="-120"/>
              </a:rPr>
              <a:t>Full depth: architecture hub · adversarial review · running reference implementation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New Student System — Target Architecture</dc:title>
  <dc:subject>PptxGenJS Presentation</dc:subject>
  <dc:creator>John Briggs</dc:creator>
  <cp:lastModifiedBy>John Briggs</cp:lastModifiedBy>
  <cp:revision>1</cp:revision>
  <dcterms:created xsi:type="dcterms:W3CDTF">2026-07-09T20:48:46Z</dcterms:created>
  <dcterms:modified xsi:type="dcterms:W3CDTF">2026-07-09T20:48:46Z</dcterms:modified>
</cp:coreProperties>
</file>